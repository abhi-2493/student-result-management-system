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0" d="100"/>
          <a:sy n="100" d="100"/>
        </p:scale>
        <p:origin x="18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SHEK POONIA" userId="28302a3db1b51008" providerId="LiveId" clId="{B62D95D7-AD71-4438-B3AF-BB76BC499553}"/>
    <pc:docChg chg="custSel modSld">
      <pc:chgData name="ABHISHEK POONIA" userId="28302a3db1b51008" providerId="LiveId" clId="{B62D95D7-AD71-4438-B3AF-BB76BC499553}" dt="2024-02-28T01:42:35.842" v="16" actId="21"/>
      <pc:docMkLst>
        <pc:docMk/>
      </pc:docMkLst>
      <pc:sldChg chg="delSp mod">
        <pc:chgData name="ABHISHEK POONIA" userId="28302a3db1b51008" providerId="LiveId" clId="{B62D95D7-AD71-4438-B3AF-BB76BC499553}" dt="2024-02-28T01:40:15.445" v="0" actId="21"/>
        <pc:sldMkLst>
          <pc:docMk/>
          <pc:sldMk cId="0" sldId="256"/>
        </pc:sldMkLst>
        <pc:picChg chg="del">
          <ac:chgData name="ABHISHEK POONIA" userId="28302a3db1b51008" providerId="LiveId" clId="{B62D95D7-AD71-4438-B3AF-BB76BC499553}" dt="2024-02-28T01:40:15.445" v="0" actId="21"/>
          <ac:picMkLst>
            <pc:docMk/>
            <pc:sldMk cId="0" sldId="256"/>
            <ac:picMk id="7" creationId="{00000000-0000-0000-0000-000000000000}"/>
          </ac:picMkLst>
        </pc:picChg>
      </pc:sldChg>
      <pc:sldChg chg="delSp mod">
        <pc:chgData name="ABHISHEK POONIA" userId="28302a3db1b51008" providerId="LiveId" clId="{B62D95D7-AD71-4438-B3AF-BB76BC499553}" dt="2024-02-28T01:40:28.074" v="1" actId="21"/>
        <pc:sldMkLst>
          <pc:docMk/>
          <pc:sldMk cId="0" sldId="257"/>
        </pc:sldMkLst>
        <pc:picChg chg="del">
          <ac:chgData name="ABHISHEK POONIA" userId="28302a3db1b51008" providerId="LiveId" clId="{B62D95D7-AD71-4438-B3AF-BB76BC499553}" dt="2024-02-28T01:40:28.074" v="1" actId="21"/>
          <ac:picMkLst>
            <pc:docMk/>
            <pc:sldMk cId="0" sldId="257"/>
            <ac:picMk id="11" creationId="{00000000-0000-0000-0000-000000000000}"/>
          </ac:picMkLst>
        </pc:picChg>
      </pc:sldChg>
      <pc:sldChg chg="delSp mod">
        <pc:chgData name="ABHISHEK POONIA" userId="28302a3db1b51008" providerId="LiveId" clId="{B62D95D7-AD71-4438-B3AF-BB76BC499553}" dt="2024-02-28T01:40:32.986" v="2" actId="21"/>
        <pc:sldMkLst>
          <pc:docMk/>
          <pc:sldMk cId="0" sldId="258"/>
        </pc:sldMkLst>
        <pc:picChg chg="del">
          <ac:chgData name="ABHISHEK POONIA" userId="28302a3db1b51008" providerId="LiveId" clId="{B62D95D7-AD71-4438-B3AF-BB76BC499553}" dt="2024-02-28T01:40:32.986" v="2" actId="21"/>
          <ac:picMkLst>
            <pc:docMk/>
            <pc:sldMk cId="0" sldId="258"/>
            <ac:picMk id="11" creationId="{00000000-0000-0000-0000-000000000000}"/>
          </ac:picMkLst>
        </pc:picChg>
      </pc:sldChg>
      <pc:sldChg chg="delSp mod">
        <pc:chgData name="ABHISHEK POONIA" userId="28302a3db1b51008" providerId="LiveId" clId="{B62D95D7-AD71-4438-B3AF-BB76BC499553}" dt="2024-02-28T01:40:38.046" v="3" actId="21"/>
        <pc:sldMkLst>
          <pc:docMk/>
          <pc:sldMk cId="0" sldId="259"/>
        </pc:sldMkLst>
        <pc:picChg chg="del">
          <ac:chgData name="ABHISHEK POONIA" userId="28302a3db1b51008" providerId="LiveId" clId="{B62D95D7-AD71-4438-B3AF-BB76BC499553}" dt="2024-02-28T01:40:38.046" v="3" actId="21"/>
          <ac:picMkLst>
            <pc:docMk/>
            <pc:sldMk cId="0" sldId="259"/>
            <ac:picMk id="11" creationId="{00000000-0000-0000-0000-000000000000}"/>
          </ac:picMkLst>
        </pc:picChg>
      </pc:sldChg>
      <pc:sldChg chg="delSp mod">
        <pc:chgData name="ABHISHEK POONIA" userId="28302a3db1b51008" providerId="LiveId" clId="{B62D95D7-AD71-4438-B3AF-BB76BC499553}" dt="2024-02-28T01:40:44.848" v="4" actId="21"/>
        <pc:sldMkLst>
          <pc:docMk/>
          <pc:sldMk cId="0" sldId="260"/>
        </pc:sldMkLst>
        <pc:picChg chg="del">
          <ac:chgData name="ABHISHEK POONIA" userId="28302a3db1b51008" providerId="LiveId" clId="{B62D95D7-AD71-4438-B3AF-BB76BC499553}" dt="2024-02-28T01:40:44.848" v="4" actId="21"/>
          <ac:picMkLst>
            <pc:docMk/>
            <pc:sldMk cId="0" sldId="260"/>
            <ac:picMk id="9" creationId="{00000000-0000-0000-0000-000000000000}"/>
          </ac:picMkLst>
        </pc:picChg>
      </pc:sldChg>
      <pc:sldChg chg="delSp mod">
        <pc:chgData name="ABHISHEK POONIA" userId="28302a3db1b51008" providerId="LiveId" clId="{B62D95D7-AD71-4438-B3AF-BB76BC499553}" dt="2024-02-28T01:40:50.824" v="5" actId="21"/>
        <pc:sldMkLst>
          <pc:docMk/>
          <pc:sldMk cId="0" sldId="261"/>
        </pc:sldMkLst>
        <pc:picChg chg="del">
          <ac:chgData name="ABHISHEK POONIA" userId="28302a3db1b51008" providerId="LiveId" clId="{B62D95D7-AD71-4438-B3AF-BB76BC499553}" dt="2024-02-28T01:40:50.824" v="5" actId="21"/>
          <ac:picMkLst>
            <pc:docMk/>
            <pc:sldMk cId="0" sldId="261"/>
            <ac:picMk id="11" creationId="{00000000-0000-0000-0000-000000000000}"/>
          </ac:picMkLst>
        </pc:picChg>
      </pc:sldChg>
      <pc:sldChg chg="delSp modSp mod">
        <pc:chgData name="ABHISHEK POONIA" userId="28302a3db1b51008" providerId="LiveId" clId="{B62D95D7-AD71-4438-B3AF-BB76BC499553}" dt="2024-02-28T01:41:06.685" v="9" actId="1036"/>
        <pc:sldMkLst>
          <pc:docMk/>
          <pc:sldMk cId="0" sldId="262"/>
        </pc:sldMkLst>
        <pc:spChg chg="mod">
          <ac:chgData name="ABHISHEK POONIA" userId="28302a3db1b51008" providerId="LiveId" clId="{B62D95D7-AD71-4438-B3AF-BB76BC499553}" dt="2024-02-28T01:41:06.685" v="9" actId="1036"/>
          <ac:spMkLst>
            <pc:docMk/>
            <pc:sldMk cId="0" sldId="262"/>
            <ac:spMk id="3" creationId="{00000000-0000-0000-0000-000000000000}"/>
          </ac:spMkLst>
        </pc:spChg>
        <pc:picChg chg="del">
          <ac:chgData name="ABHISHEK POONIA" userId="28302a3db1b51008" providerId="LiveId" clId="{B62D95D7-AD71-4438-B3AF-BB76BC499553}" dt="2024-02-28T01:40:59.998" v="6" actId="21"/>
          <ac:picMkLst>
            <pc:docMk/>
            <pc:sldMk cId="0" sldId="262"/>
            <ac:picMk id="17" creationId="{00000000-0000-0000-0000-000000000000}"/>
          </ac:picMkLst>
        </pc:picChg>
      </pc:sldChg>
      <pc:sldChg chg="delSp mod">
        <pc:chgData name="ABHISHEK POONIA" userId="28302a3db1b51008" providerId="LiveId" clId="{B62D95D7-AD71-4438-B3AF-BB76BC499553}" dt="2024-02-28T01:41:16.903" v="10" actId="21"/>
        <pc:sldMkLst>
          <pc:docMk/>
          <pc:sldMk cId="0" sldId="263"/>
        </pc:sldMkLst>
        <pc:picChg chg="del">
          <ac:chgData name="ABHISHEK POONIA" userId="28302a3db1b51008" providerId="LiveId" clId="{B62D95D7-AD71-4438-B3AF-BB76BC499553}" dt="2024-02-28T01:41:16.903" v="10" actId="21"/>
          <ac:picMkLst>
            <pc:docMk/>
            <pc:sldMk cId="0" sldId="263"/>
            <ac:picMk id="16" creationId="{00000000-0000-0000-0000-000000000000}"/>
          </ac:picMkLst>
        </pc:picChg>
      </pc:sldChg>
      <pc:sldChg chg="delSp mod">
        <pc:chgData name="ABHISHEK POONIA" userId="28302a3db1b51008" providerId="LiveId" clId="{B62D95D7-AD71-4438-B3AF-BB76BC499553}" dt="2024-02-28T01:41:25.138" v="11" actId="21"/>
        <pc:sldMkLst>
          <pc:docMk/>
          <pc:sldMk cId="0" sldId="264"/>
        </pc:sldMkLst>
        <pc:picChg chg="del">
          <ac:chgData name="ABHISHEK POONIA" userId="28302a3db1b51008" providerId="LiveId" clId="{B62D95D7-AD71-4438-B3AF-BB76BC499553}" dt="2024-02-28T01:41:25.138" v="11" actId="21"/>
          <ac:picMkLst>
            <pc:docMk/>
            <pc:sldMk cId="0" sldId="264"/>
            <ac:picMk id="21" creationId="{00000000-0000-0000-0000-000000000000}"/>
          </ac:picMkLst>
        </pc:picChg>
      </pc:sldChg>
      <pc:sldChg chg="delSp mod">
        <pc:chgData name="ABHISHEK POONIA" userId="28302a3db1b51008" providerId="LiveId" clId="{B62D95D7-AD71-4438-B3AF-BB76BC499553}" dt="2024-02-28T01:41:33.056" v="12" actId="21"/>
        <pc:sldMkLst>
          <pc:docMk/>
          <pc:sldMk cId="0" sldId="265"/>
        </pc:sldMkLst>
        <pc:picChg chg="del">
          <ac:chgData name="ABHISHEK POONIA" userId="28302a3db1b51008" providerId="LiveId" clId="{B62D95D7-AD71-4438-B3AF-BB76BC499553}" dt="2024-02-28T01:41:33.056" v="12" actId="21"/>
          <ac:picMkLst>
            <pc:docMk/>
            <pc:sldMk cId="0" sldId="265"/>
            <ac:picMk id="16" creationId="{00000000-0000-0000-0000-000000000000}"/>
          </ac:picMkLst>
        </pc:picChg>
      </pc:sldChg>
      <pc:sldChg chg="delSp mod">
        <pc:chgData name="ABHISHEK POONIA" userId="28302a3db1b51008" providerId="LiveId" clId="{B62D95D7-AD71-4438-B3AF-BB76BC499553}" dt="2024-02-28T01:41:42.923" v="13" actId="21"/>
        <pc:sldMkLst>
          <pc:docMk/>
          <pc:sldMk cId="0" sldId="266"/>
        </pc:sldMkLst>
        <pc:picChg chg="del">
          <ac:chgData name="ABHISHEK POONIA" userId="28302a3db1b51008" providerId="LiveId" clId="{B62D95D7-AD71-4438-B3AF-BB76BC499553}" dt="2024-02-28T01:41:42.923" v="13" actId="21"/>
          <ac:picMkLst>
            <pc:docMk/>
            <pc:sldMk cId="0" sldId="266"/>
            <ac:picMk id="9" creationId="{00000000-0000-0000-0000-000000000000}"/>
          </ac:picMkLst>
        </pc:picChg>
      </pc:sldChg>
      <pc:sldChg chg="delSp mod">
        <pc:chgData name="ABHISHEK POONIA" userId="28302a3db1b51008" providerId="LiveId" clId="{B62D95D7-AD71-4438-B3AF-BB76BC499553}" dt="2024-02-28T01:42:24.746" v="14" actId="21"/>
        <pc:sldMkLst>
          <pc:docMk/>
          <pc:sldMk cId="0" sldId="267"/>
        </pc:sldMkLst>
        <pc:picChg chg="del">
          <ac:chgData name="ABHISHEK POONIA" userId="28302a3db1b51008" providerId="LiveId" clId="{B62D95D7-AD71-4438-B3AF-BB76BC499553}" dt="2024-02-28T01:42:24.746" v="14" actId="21"/>
          <ac:picMkLst>
            <pc:docMk/>
            <pc:sldMk cId="0" sldId="267"/>
            <ac:picMk id="11" creationId="{00000000-0000-0000-0000-000000000000}"/>
          </ac:picMkLst>
        </pc:picChg>
      </pc:sldChg>
      <pc:sldChg chg="delSp mod">
        <pc:chgData name="ABHISHEK POONIA" userId="28302a3db1b51008" providerId="LiveId" clId="{B62D95D7-AD71-4438-B3AF-BB76BC499553}" dt="2024-02-28T01:42:30.293" v="15" actId="21"/>
        <pc:sldMkLst>
          <pc:docMk/>
          <pc:sldMk cId="0" sldId="268"/>
        </pc:sldMkLst>
        <pc:picChg chg="del">
          <ac:chgData name="ABHISHEK POONIA" userId="28302a3db1b51008" providerId="LiveId" clId="{B62D95D7-AD71-4438-B3AF-BB76BC499553}" dt="2024-02-28T01:42:30.293" v="15" actId="21"/>
          <ac:picMkLst>
            <pc:docMk/>
            <pc:sldMk cId="0" sldId="268"/>
            <ac:picMk id="10" creationId="{00000000-0000-0000-0000-000000000000}"/>
          </ac:picMkLst>
        </pc:picChg>
      </pc:sldChg>
      <pc:sldChg chg="delSp mod">
        <pc:chgData name="ABHISHEK POONIA" userId="28302a3db1b51008" providerId="LiveId" clId="{B62D95D7-AD71-4438-B3AF-BB76BC499553}" dt="2024-02-28T01:42:35.842" v="16" actId="21"/>
        <pc:sldMkLst>
          <pc:docMk/>
          <pc:sldMk cId="0" sldId="269"/>
        </pc:sldMkLst>
        <pc:picChg chg="del">
          <ac:chgData name="ABHISHEK POONIA" userId="28302a3db1b51008" providerId="LiveId" clId="{B62D95D7-AD71-4438-B3AF-BB76BC499553}" dt="2024-02-28T01:42:35.842" v="16" actId="21"/>
          <ac:picMkLst>
            <pc:docMk/>
            <pc:sldMk cId="0" sldId="269"/>
            <ac:picMk id="7"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118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sp>
      <p:pic>
        <p:nvPicPr>
          <p:cNvPr id="4" name="Image 1" descr="preencoded.png"/>
          <p:cNvPicPr>
            <a:picLocks noChangeAspect="1"/>
          </p:cNvPicPr>
          <p:nvPr/>
        </p:nvPicPr>
        <p:blipFill>
          <a:blip r:embed="rId4"/>
          <a:stretch>
            <a:fillRect/>
          </a:stretch>
        </p:blipFill>
        <p:spPr>
          <a:xfrm>
            <a:off x="0" y="0"/>
            <a:ext cx="5486400" cy="8229600"/>
          </a:xfrm>
          <a:prstGeom prst="rect">
            <a:avLst/>
          </a:prstGeom>
        </p:spPr>
      </p:pic>
      <p:sp>
        <p:nvSpPr>
          <p:cNvPr id="5" name="Text 1"/>
          <p:cNvSpPr/>
          <p:nvPr/>
        </p:nvSpPr>
        <p:spPr>
          <a:xfrm>
            <a:off x="6319599" y="2342912"/>
            <a:ext cx="7477601" cy="2499598"/>
          </a:xfrm>
          <a:prstGeom prst="rect">
            <a:avLst/>
          </a:prstGeom>
          <a:noFill/>
          <a:ln/>
        </p:spPr>
        <p:txBody>
          <a:bodyPr wrap="square" rtlCol="0" anchor="t"/>
          <a:lstStyle/>
          <a:p>
            <a:pPr marL="0" indent="0">
              <a:lnSpc>
                <a:spcPts val="6561"/>
              </a:lnSpc>
              <a:buNone/>
            </a:pPr>
            <a:r>
              <a:rPr lang="en-US" sz="5249" dirty="0">
                <a:solidFill>
                  <a:srgbClr val="F2F0F4"/>
                </a:solidFill>
                <a:latin typeface="Montserrat" pitchFamily="34" charset="0"/>
                <a:ea typeface="Montserrat" pitchFamily="34" charset="-122"/>
                <a:cs typeface="Montserrat" pitchFamily="34" charset="-120"/>
              </a:rPr>
              <a:t>Introduction to Student Result Managemnt System</a:t>
            </a:r>
            <a:endParaRPr lang="en-US" sz="5249" dirty="0"/>
          </a:p>
        </p:txBody>
      </p:sp>
      <p:sp>
        <p:nvSpPr>
          <p:cNvPr id="6" name="Text 2"/>
          <p:cNvSpPr/>
          <p:nvPr/>
        </p:nvSpPr>
        <p:spPr>
          <a:xfrm>
            <a:off x="6319599" y="5175766"/>
            <a:ext cx="7477601" cy="710803"/>
          </a:xfrm>
          <a:prstGeom prst="rect">
            <a:avLst/>
          </a:prstGeom>
          <a:noFill/>
          <a:ln/>
        </p:spPr>
        <p:txBody>
          <a:bodyPr wrap="square" rtlCol="0" anchor="t"/>
          <a:lstStyle/>
          <a:p>
            <a:pPr marL="0" indent="0">
              <a:lnSpc>
                <a:spcPts val="2799"/>
              </a:lnSpc>
              <a:buNone/>
            </a:pPr>
            <a:r>
              <a:rPr lang="en-US" sz="1750" dirty="0">
                <a:solidFill>
                  <a:srgbClr val="DCD7E5"/>
                </a:solidFill>
                <a:latin typeface="Heebo" pitchFamily="34" charset="0"/>
                <a:ea typeface="Heebo" pitchFamily="34" charset="-122"/>
                <a:cs typeface="Heebo" pitchFamily="34" charset="-120"/>
              </a:rPr>
              <a:t>Managing student results is a critical task for educational institutions. It involves recording, tracking, and disseminating student performance data.</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sp>
      <p:sp>
        <p:nvSpPr>
          <p:cNvPr id="4" name="Text 1"/>
          <p:cNvSpPr/>
          <p:nvPr/>
        </p:nvSpPr>
        <p:spPr>
          <a:xfrm>
            <a:off x="2037993" y="843677"/>
            <a:ext cx="10554414" cy="1388745"/>
          </a:xfrm>
          <a:prstGeom prst="rect">
            <a:avLst/>
          </a:prstGeom>
          <a:noFill/>
          <a:ln/>
        </p:spPr>
        <p:txBody>
          <a:bodyPr wrap="square" rtlCol="0" anchor="t"/>
          <a:lstStyle/>
          <a:p>
            <a:pPr marL="0" indent="0">
              <a:lnSpc>
                <a:spcPts val="5468"/>
              </a:lnSpc>
              <a:buNone/>
            </a:pPr>
            <a:r>
              <a:rPr lang="en-US" sz="4374" dirty="0">
                <a:solidFill>
                  <a:srgbClr val="F2F0F4"/>
                </a:solidFill>
                <a:latin typeface="Montserrat" pitchFamily="34" charset="0"/>
                <a:ea typeface="Montserrat" pitchFamily="34" charset="-122"/>
                <a:cs typeface="Montserrat" pitchFamily="34" charset="-120"/>
              </a:rPr>
              <a:t>Overview of the Dashboard and its Components</a:t>
            </a:r>
            <a:endParaRPr lang="en-US" sz="4374" dirty="0"/>
          </a:p>
        </p:txBody>
      </p:sp>
      <p:sp>
        <p:nvSpPr>
          <p:cNvPr id="5" name="Text 2"/>
          <p:cNvSpPr/>
          <p:nvPr/>
        </p:nvSpPr>
        <p:spPr>
          <a:xfrm>
            <a:off x="2037993" y="2565678"/>
            <a:ext cx="3332917" cy="416481"/>
          </a:xfrm>
          <a:prstGeom prst="rect">
            <a:avLst/>
          </a:prstGeom>
          <a:noFill/>
          <a:ln/>
        </p:spPr>
        <p:txBody>
          <a:bodyPr wrap="none" rtlCol="0" anchor="t"/>
          <a:lstStyle/>
          <a:p>
            <a:pPr marL="0" indent="0">
              <a:lnSpc>
                <a:spcPts val="3281"/>
              </a:lnSpc>
              <a:buNone/>
            </a:pPr>
            <a:r>
              <a:rPr lang="en-US" sz="2624" dirty="0">
                <a:solidFill>
                  <a:srgbClr val="F2F0F4"/>
                </a:solidFill>
                <a:latin typeface="Montserrat" pitchFamily="34" charset="0"/>
                <a:ea typeface="Montserrat" pitchFamily="34" charset="-122"/>
                <a:cs typeface="Montserrat" pitchFamily="34" charset="-120"/>
              </a:rPr>
              <a:t>Dashboard:</a:t>
            </a:r>
            <a:endParaRPr lang="en-US" sz="2624" dirty="0"/>
          </a:p>
        </p:txBody>
      </p:sp>
      <p:sp>
        <p:nvSpPr>
          <p:cNvPr id="6" name="Text 3"/>
          <p:cNvSpPr/>
          <p:nvPr/>
        </p:nvSpPr>
        <p:spPr>
          <a:xfrm>
            <a:off x="2037993" y="3315414"/>
            <a:ext cx="10554414" cy="710803"/>
          </a:xfrm>
          <a:prstGeom prst="rect">
            <a:avLst/>
          </a:prstGeom>
          <a:noFill/>
          <a:ln/>
        </p:spPr>
        <p:txBody>
          <a:bodyPr wrap="square" rtlCol="0" anchor="t"/>
          <a:lstStyle/>
          <a:p>
            <a:pPr marL="0" indent="0">
              <a:lnSpc>
                <a:spcPts val="2799"/>
              </a:lnSpc>
              <a:buNone/>
            </a:pPr>
            <a:r>
              <a:rPr lang="en-US" sz="1750" b="1" dirty="0">
                <a:solidFill>
                  <a:srgbClr val="DCD7E5"/>
                </a:solidFill>
                <a:latin typeface="Heebo" pitchFamily="34" charset="0"/>
                <a:ea typeface="Heebo" pitchFamily="34" charset="-122"/>
                <a:cs typeface="Heebo" pitchFamily="34" charset="-120"/>
              </a:rPr>
              <a:t>Navigation</a:t>
            </a:r>
            <a:r>
              <a:rPr lang="en-US" sz="1750" dirty="0">
                <a:solidFill>
                  <a:srgbClr val="DCD7E5"/>
                </a:solidFill>
                <a:latin typeface="Heebo" pitchFamily="34" charset="0"/>
                <a:ea typeface="Heebo" pitchFamily="34" charset="-122"/>
                <a:cs typeface="Heebo" pitchFamily="34" charset="-120"/>
              </a:rPr>
              <a:t>: Users can easily navigate between different sections of the Student Result Management System using the navigation links provided in the header.</a:t>
            </a:r>
            <a:endParaRPr lang="en-US" sz="1750" dirty="0"/>
          </a:p>
        </p:txBody>
      </p:sp>
      <p:sp>
        <p:nvSpPr>
          <p:cNvPr id="7" name="Text 4"/>
          <p:cNvSpPr/>
          <p:nvPr/>
        </p:nvSpPr>
        <p:spPr>
          <a:xfrm>
            <a:off x="2393394" y="4276130"/>
            <a:ext cx="10199013" cy="710803"/>
          </a:xfrm>
          <a:prstGeom prst="rect">
            <a:avLst/>
          </a:prstGeom>
          <a:noFill/>
          <a:ln/>
        </p:spPr>
        <p:txBody>
          <a:bodyPr wrap="square" rtlCol="0" anchor="t"/>
          <a:lstStyle/>
          <a:p>
            <a:pPr marL="342900" indent="-342900" algn="l">
              <a:lnSpc>
                <a:spcPts val="2799"/>
              </a:lnSpc>
              <a:buSzPct val="100000"/>
              <a:buChar char="•"/>
            </a:pPr>
            <a:r>
              <a:rPr lang="en-US" sz="1750" b="1" dirty="0">
                <a:solidFill>
                  <a:srgbClr val="DCD7E5"/>
                </a:solidFill>
                <a:latin typeface="Heebo" pitchFamily="34" charset="0"/>
                <a:ea typeface="Heebo" pitchFamily="34" charset="-122"/>
                <a:cs typeface="Heebo" pitchFamily="34" charset="-120"/>
              </a:rPr>
              <a:t>Search Functionality</a:t>
            </a:r>
            <a:r>
              <a:rPr lang="en-US" sz="1750" dirty="0">
                <a:solidFill>
                  <a:srgbClr val="DCD7E5"/>
                </a:solidFill>
                <a:latin typeface="Heebo" pitchFamily="34" charset="0"/>
                <a:ea typeface="Heebo" pitchFamily="34" charset="-122"/>
                <a:cs typeface="Heebo" pitchFamily="34" charset="-120"/>
              </a:rPr>
              <a:t>: The search form allows users to search for specific student records based on registration numbers, enhancing the accessibility and usability of the system.</a:t>
            </a:r>
            <a:endParaRPr lang="en-US" sz="1750" dirty="0"/>
          </a:p>
        </p:txBody>
      </p:sp>
      <p:sp>
        <p:nvSpPr>
          <p:cNvPr id="8" name="Text 5"/>
          <p:cNvSpPr/>
          <p:nvPr/>
        </p:nvSpPr>
        <p:spPr>
          <a:xfrm>
            <a:off x="2393394" y="5075753"/>
            <a:ext cx="10199013" cy="710803"/>
          </a:xfrm>
          <a:prstGeom prst="rect">
            <a:avLst/>
          </a:prstGeom>
          <a:noFill/>
          <a:ln/>
        </p:spPr>
        <p:txBody>
          <a:bodyPr wrap="square" rtlCol="0" anchor="t"/>
          <a:lstStyle/>
          <a:p>
            <a:pPr marL="342900" indent="-342900" algn="l">
              <a:lnSpc>
                <a:spcPts val="2799"/>
              </a:lnSpc>
              <a:buSzPct val="100000"/>
              <a:buChar char="•"/>
            </a:pPr>
            <a:r>
              <a:rPr lang="en-US" sz="1750" b="1" dirty="0">
                <a:solidFill>
                  <a:srgbClr val="DCD7E5"/>
                </a:solidFill>
                <a:latin typeface="Heebo" pitchFamily="34" charset="0"/>
                <a:ea typeface="Heebo" pitchFamily="34" charset="-122"/>
                <a:cs typeface="Heebo" pitchFamily="34" charset="-120"/>
              </a:rPr>
              <a:t>Background Image</a:t>
            </a:r>
            <a:r>
              <a:rPr lang="en-US" sz="1750" dirty="0">
                <a:solidFill>
                  <a:srgbClr val="DCD7E5"/>
                </a:solidFill>
                <a:latin typeface="Heebo" pitchFamily="34" charset="0"/>
                <a:ea typeface="Heebo" pitchFamily="34" charset="-122"/>
                <a:cs typeface="Heebo" pitchFamily="34" charset="-120"/>
              </a:rPr>
              <a:t>: The background image enhances the visual appeal of the dashboard, creating a more engaging user experience.</a:t>
            </a:r>
            <a:endParaRPr lang="en-US" sz="1750" dirty="0"/>
          </a:p>
        </p:txBody>
      </p:sp>
      <p:sp>
        <p:nvSpPr>
          <p:cNvPr id="9" name="Text 6"/>
          <p:cNvSpPr/>
          <p:nvPr/>
        </p:nvSpPr>
        <p:spPr>
          <a:xfrm>
            <a:off x="2393394" y="5875377"/>
            <a:ext cx="10199013" cy="710803"/>
          </a:xfrm>
          <a:prstGeom prst="rect">
            <a:avLst/>
          </a:prstGeom>
          <a:noFill/>
          <a:ln/>
        </p:spPr>
        <p:txBody>
          <a:bodyPr wrap="square" rtlCol="0" anchor="t"/>
          <a:lstStyle/>
          <a:p>
            <a:pPr marL="342900" indent="-342900" algn="l">
              <a:lnSpc>
                <a:spcPts val="2799"/>
              </a:lnSpc>
              <a:buSzPct val="100000"/>
              <a:buChar char="•"/>
            </a:pPr>
            <a:r>
              <a:rPr lang="en-US" sz="1750" b="1" dirty="0">
                <a:solidFill>
                  <a:srgbClr val="DCD7E5"/>
                </a:solidFill>
                <a:latin typeface="Heebo" pitchFamily="34" charset="0"/>
                <a:ea typeface="Heebo" pitchFamily="34" charset="-122"/>
                <a:cs typeface="Heebo" pitchFamily="34" charset="-120"/>
              </a:rPr>
              <a:t>Form Interaction</a:t>
            </a:r>
            <a:r>
              <a:rPr lang="en-US" sz="1750" dirty="0">
                <a:solidFill>
                  <a:srgbClr val="DCD7E5"/>
                </a:solidFill>
                <a:latin typeface="Heebo" pitchFamily="34" charset="0"/>
                <a:ea typeface="Heebo" pitchFamily="34" charset="-122"/>
                <a:cs typeface="Heebo" pitchFamily="34" charset="-120"/>
              </a:rPr>
              <a:t>: The form allows users to interact with the system, providing input and triggering actions such as searching for student records.</a:t>
            </a:r>
            <a:endParaRPr lang="en-US" sz="1750" dirty="0"/>
          </a:p>
        </p:txBody>
      </p:sp>
      <p:sp>
        <p:nvSpPr>
          <p:cNvPr id="10" name="Text 7"/>
          <p:cNvSpPr/>
          <p:nvPr/>
        </p:nvSpPr>
        <p:spPr>
          <a:xfrm>
            <a:off x="2393394" y="6675001"/>
            <a:ext cx="10199013" cy="710803"/>
          </a:xfrm>
          <a:prstGeom prst="rect">
            <a:avLst/>
          </a:prstGeom>
          <a:noFill/>
          <a:ln/>
        </p:spPr>
        <p:txBody>
          <a:bodyPr wrap="square" rtlCol="0" anchor="t"/>
          <a:lstStyle/>
          <a:p>
            <a:pPr marL="342900" indent="-342900" algn="l">
              <a:lnSpc>
                <a:spcPts val="2799"/>
              </a:lnSpc>
              <a:buSzPct val="100000"/>
              <a:buChar char="•"/>
            </a:pPr>
            <a:r>
              <a:rPr lang="en-US" sz="1750" b="1" dirty="0">
                <a:solidFill>
                  <a:srgbClr val="DCD7E5"/>
                </a:solidFill>
                <a:latin typeface="Heebo" pitchFamily="34" charset="0"/>
                <a:ea typeface="Heebo" pitchFamily="34" charset="-122"/>
                <a:cs typeface="Heebo" pitchFamily="34" charset="-120"/>
              </a:rPr>
              <a:t>Footer Information</a:t>
            </a:r>
            <a:r>
              <a:rPr lang="en-US" sz="1750" dirty="0">
                <a:solidFill>
                  <a:srgbClr val="DCD7E5"/>
                </a:solidFill>
                <a:latin typeface="Heebo" pitchFamily="34" charset="0"/>
                <a:ea typeface="Heebo" pitchFamily="34" charset="-122"/>
                <a:cs typeface="Heebo" pitchFamily="34" charset="-120"/>
              </a:rPr>
              <a:t>: The footer provides additional information and context to the dashboard, improving user understanding and trust in the system.</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sp>
      <p:sp>
        <p:nvSpPr>
          <p:cNvPr id="4" name="Text 1"/>
          <p:cNvSpPr/>
          <p:nvPr/>
        </p:nvSpPr>
        <p:spPr>
          <a:xfrm>
            <a:off x="2037993" y="1373505"/>
            <a:ext cx="2777490" cy="347186"/>
          </a:xfrm>
          <a:prstGeom prst="rect">
            <a:avLst/>
          </a:prstGeom>
          <a:noFill/>
          <a:ln/>
        </p:spPr>
        <p:txBody>
          <a:bodyPr wrap="none" rtlCol="0" anchor="t"/>
          <a:lstStyle/>
          <a:p>
            <a:pPr marL="0" indent="0">
              <a:lnSpc>
                <a:spcPts val="2734"/>
              </a:lnSpc>
              <a:buNone/>
            </a:pPr>
            <a:r>
              <a:rPr lang="en-US" sz="2187" dirty="0">
                <a:solidFill>
                  <a:srgbClr val="F2F0F4"/>
                </a:solidFill>
                <a:latin typeface="Montserrat" pitchFamily="34" charset="0"/>
                <a:ea typeface="Montserrat" pitchFamily="34" charset="-122"/>
                <a:cs typeface="Montserrat" pitchFamily="34" charset="-120"/>
              </a:rPr>
              <a:t>Add result</a:t>
            </a:r>
            <a:endParaRPr lang="en-US" sz="2187" dirty="0"/>
          </a:p>
        </p:txBody>
      </p:sp>
      <p:sp>
        <p:nvSpPr>
          <p:cNvPr id="5" name="Text 2"/>
          <p:cNvSpPr/>
          <p:nvPr/>
        </p:nvSpPr>
        <p:spPr>
          <a:xfrm>
            <a:off x="2037993" y="2165033"/>
            <a:ext cx="10554414" cy="1421606"/>
          </a:xfrm>
          <a:prstGeom prst="rect">
            <a:avLst/>
          </a:prstGeom>
          <a:noFill/>
          <a:ln/>
        </p:spPr>
        <p:txBody>
          <a:bodyPr wrap="square" rtlCol="0" anchor="t"/>
          <a:lstStyle/>
          <a:p>
            <a:pPr marL="0" indent="0">
              <a:lnSpc>
                <a:spcPts val="2799"/>
              </a:lnSpc>
              <a:buNone/>
            </a:pPr>
            <a:r>
              <a:rPr lang="en-US" sz="1750" dirty="0">
                <a:solidFill>
                  <a:srgbClr val="DCD7E5"/>
                </a:solidFill>
                <a:latin typeface="Heebo" pitchFamily="34" charset="0"/>
                <a:ea typeface="Heebo" pitchFamily="34" charset="-122"/>
                <a:cs typeface="Heebo" pitchFamily="34" charset="-120"/>
              </a:rPr>
              <a:t>This dashboard serves as an interface for administrators or authorized personnel to add student results into the system. It provides a user-friendly form where they can input details such as registration number, student name, year, and marks obtained in each academic year. The system is designed to handle up to four years of academic data.</a:t>
            </a:r>
            <a:endParaRPr lang="en-US" sz="1750" dirty="0"/>
          </a:p>
        </p:txBody>
      </p:sp>
      <p:sp>
        <p:nvSpPr>
          <p:cNvPr id="6" name="Text 3"/>
          <p:cNvSpPr/>
          <p:nvPr/>
        </p:nvSpPr>
        <p:spPr>
          <a:xfrm>
            <a:off x="2037993" y="3836551"/>
            <a:ext cx="10554414" cy="355402"/>
          </a:xfrm>
          <a:prstGeom prst="rect">
            <a:avLst/>
          </a:prstGeom>
          <a:noFill/>
          <a:ln/>
        </p:spPr>
        <p:txBody>
          <a:bodyPr wrap="none" rtlCol="0" anchor="t"/>
          <a:lstStyle/>
          <a:p>
            <a:pPr marL="0" indent="0">
              <a:lnSpc>
                <a:spcPts val="2799"/>
              </a:lnSpc>
              <a:buNone/>
            </a:pPr>
            <a:r>
              <a:rPr lang="en-US" sz="1750" b="1" dirty="0">
                <a:solidFill>
                  <a:srgbClr val="DCD7E5"/>
                </a:solidFill>
                <a:latin typeface="Heebo" pitchFamily="34" charset="0"/>
                <a:ea typeface="Heebo" pitchFamily="34" charset="-122"/>
                <a:cs typeface="Heebo" pitchFamily="34" charset="-120"/>
              </a:rPr>
              <a:t>Features</a:t>
            </a:r>
            <a:r>
              <a:rPr lang="en-US" sz="1750" dirty="0">
                <a:solidFill>
                  <a:srgbClr val="DCD7E5"/>
                </a:solidFill>
                <a:latin typeface="Heebo" pitchFamily="34" charset="0"/>
                <a:ea typeface="Heebo" pitchFamily="34" charset="-122"/>
                <a:cs typeface="Heebo" pitchFamily="34" charset="-120"/>
              </a:rPr>
              <a:t>:</a:t>
            </a:r>
            <a:endParaRPr lang="en-US" sz="1750" dirty="0"/>
          </a:p>
        </p:txBody>
      </p:sp>
      <p:sp>
        <p:nvSpPr>
          <p:cNvPr id="7" name="Text 4"/>
          <p:cNvSpPr/>
          <p:nvPr/>
        </p:nvSpPr>
        <p:spPr>
          <a:xfrm>
            <a:off x="2393394" y="4441865"/>
            <a:ext cx="10199013" cy="710803"/>
          </a:xfrm>
          <a:prstGeom prst="rect">
            <a:avLst/>
          </a:prstGeom>
          <a:noFill/>
          <a:ln/>
        </p:spPr>
        <p:txBody>
          <a:bodyPr wrap="square" rtlCol="0" anchor="t"/>
          <a:lstStyle/>
          <a:p>
            <a:pPr marL="342900" indent="-342900" algn="l">
              <a:lnSpc>
                <a:spcPts val="2799"/>
              </a:lnSpc>
              <a:buSzPct val="100000"/>
              <a:buChar char="•"/>
            </a:pPr>
            <a:r>
              <a:rPr lang="en-US" sz="1750" dirty="0">
                <a:solidFill>
                  <a:srgbClr val="DCD7E5"/>
                </a:solidFill>
                <a:latin typeface="Heebo" pitchFamily="34" charset="0"/>
                <a:ea typeface="Heebo" pitchFamily="34" charset="-122"/>
                <a:cs typeface="Heebo" pitchFamily="34" charset="-120"/>
              </a:rPr>
              <a:t>Navigation links allow easy access to different sections of the system, such as Dashboard, View Result, and Edit Result.</a:t>
            </a:r>
            <a:endParaRPr lang="en-US" sz="1750" dirty="0"/>
          </a:p>
        </p:txBody>
      </p:sp>
      <p:sp>
        <p:nvSpPr>
          <p:cNvPr id="8" name="Text 5"/>
          <p:cNvSpPr/>
          <p:nvPr/>
        </p:nvSpPr>
        <p:spPr>
          <a:xfrm>
            <a:off x="2393394" y="5241488"/>
            <a:ext cx="10199013" cy="726043"/>
          </a:xfrm>
          <a:prstGeom prst="rect">
            <a:avLst/>
          </a:prstGeom>
          <a:noFill/>
          <a:ln/>
        </p:spPr>
        <p:txBody>
          <a:bodyPr wrap="square" rtlCol="0" anchor="t"/>
          <a:lstStyle/>
          <a:p>
            <a:pPr marL="342900" indent="-342900" algn="l">
              <a:lnSpc>
                <a:spcPts val="2799"/>
              </a:lnSpc>
              <a:buSzPct val="100000"/>
              <a:buChar char="•"/>
            </a:pPr>
            <a:r>
              <a:rPr lang="en-US" sz="1750" dirty="0">
                <a:solidFill>
                  <a:srgbClr val="DCD7E5"/>
                </a:solidFill>
                <a:latin typeface="Heebo" pitchFamily="34" charset="0"/>
                <a:ea typeface="Heebo" pitchFamily="34" charset="-122"/>
                <a:cs typeface="Heebo" pitchFamily="34" charset="-120"/>
              </a:rPr>
              <a:t>Form validation (specified by </a:t>
            </a:r>
            <a:r>
              <a:rPr lang="en-US" sz="1750" dirty="0">
                <a:solidFill>
                  <a:srgbClr val="DCD7E5"/>
                </a:solidFill>
                <a:highlight>
                  <a:srgbClr val="240B41"/>
                </a:highlight>
                <a:latin typeface="Consolas" pitchFamily="34" charset="0"/>
                <a:ea typeface="Consolas" pitchFamily="34" charset="-122"/>
                <a:cs typeface="Consolas" pitchFamily="34" charset="-120"/>
              </a:rPr>
              <a:t>required</a:t>
            </a:r>
            <a:r>
              <a:rPr lang="en-US" sz="1750" dirty="0">
                <a:solidFill>
                  <a:srgbClr val="DCD7E5"/>
                </a:solidFill>
                <a:latin typeface="Heebo" pitchFamily="34" charset="0"/>
                <a:ea typeface="Heebo" pitchFamily="34" charset="-122"/>
                <a:cs typeface="Heebo" pitchFamily="34" charset="-120"/>
              </a:rPr>
              <a:t> attribute in input fields) ensures that essential fields are filled before submitting.</a:t>
            </a:r>
            <a:endParaRPr lang="en-US" sz="1750" dirty="0"/>
          </a:p>
        </p:txBody>
      </p:sp>
      <p:sp>
        <p:nvSpPr>
          <p:cNvPr id="9" name="Text 6"/>
          <p:cNvSpPr/>
          <p:nvPr/>
        </p:nvSpPr>
        <p:spPr>
          <a:xfrm>
            <a:off x="2393394" y="6056352"/>
            <a:ext cx="10199013" cy="355402"/>
          </a:xfrm>
          <a:prstGeom prst="rect">
            <a:avLst/>
          </a:prstGeom>
          <a:noFill/>
          <a:ln/>
        </p:spPr>
        <p:txBody>
          <a:bodyPr wrap="none" rtlCol="0" anchor="t"/>
          <a:lstStyle/>
          <a:p>
            <a:pPr marL="342900" indent="-342900" algn="l">
              <a:lnSpc>
                <a:spcPts val="2799"/>
              </a:lnSpc>
              <a:buSzPct val="100000"/>
              <a:buChar char="•"/>
            </a:pPr>
            <a:r>
              <a:rPr lang="en-US" sz="1750" dirty="0">
                <a:solidFill>
                  <a:srgbClr val="DCD7E5"/>
                </a:solidFill>
                <a:latin typeface="Heebo" pitchFamily="34" charset="0"/>
                <a:ea typeface="Heebo" pitchFamily="34" charset="-122"/>
                <a:cs typeface="Heebo" pitchFamily="34" charset="-120"/>
              </a:rPr>
              <a:t>The system can handle multiple academic years, accommodating a variety of educational programs.</a:t>
            </a:r>
            <a:endParaRPr lang="en-US" sz="1750" dirty="0"/>
          </a:p>
        </p:txBody>
      </p:sp>
      <p:sp>
        <p:nvSpPr>
          <p:cNvPr id="10" name="Text 7"/>
          <p:cNvSpPr/>
          <p:nvPr/>
        </p:nvSpPr>
        <p:spPr>
          <a:xfrm>
            <a:off x="2393394" y="6500574"/>
            <a:ext cx="10199013" cy="355402"/>
          </a:xfrm>
          <a:prstGeom prst="rect">
            <a:avLst/>
          </a:prstGeom>
          <a:noFill/>
          <a:ln/>
        </p:spPr>
        <p:txBody>
          <a:bodyPr wrap="none" rtlCol="0" anchor="t"/>
          <a:lstStyle/>
          <a:p>
            <a:pPr marL="342900" indent="-342900" algn="l">
              <a:lnSpc>
                <a:spcPts val="2799"/>
              </a:lnSpc>
              <a:buSzPct val="100000"/>
              <a:buChar char="•"/>
            </a:pPr>
            <a:r>
              <a:rPr lang="en-US" sz="1750" dirty="0">
                <a:solidFill>
                  <a:srgbClr val="DCD7E5"/>
                </a:solidFill>
                <a:latin typeface="Heebo" pitchFamily="34" charset="0"/>
                <a:ea typeface="Heebo" pitchFamily="34" charset="-122"/>
                <a:cs typeface="Heebo" pitchFamily="34" charset="-120"/>
              </a:rPr>
              <a:t>The Save button submits the form data, presumably to a backend system for processing and storage.</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sp>
      <p:sp>
        <p:nvSpPr>
          <p:cNvPr id="4" name="Text 1"/>
          <p:cNvSpPr/>
          <p:nvPr/>
        </p:nvSpPr>
        <p:spPr>
          <a:xfrm>
            <a:off x="2037993" y="840462"/>
            <a:ext cx="2777490" cy="347186"/>
          </a:xfrm>
          <a:prstGeom prst="rect">
            <a:avLst/>
          </a:prstGeom>
          <a:noFill/>
          <a:ln/>
        </p:spPr>
        <p:txBody>
          <a:bodyPr wrap="none" rtlCol="0" anchor="t"/>
          <a:lstStyle/>
          <a:p>
            <a:pPr marL="0" indent="0">
              <a:lnSpc>
                <a:spcPts val="2734"/>
              </a:lnSpc>
              <a:buNone/>
            </a:pPr>
            <a:r>
              <a:rPr lang="en-US" sz="2187" dirty="0">
                <a:solidFill>
                  <a:srgbClr val="F2F0F4"/>
                </a:solidFill>
                <a:latin typeface="Montserrat" pitchFamily="34" charset="0"/>
                <a:ea typeface="Montserrat" pitchFamily="34" charset="-122"/>
                <a:cs typeface="Montserrat" pitchFamily="34" charset="-120"/>
              </a:rPr>
              <a:t>Edit result:</a:t>
            </a:r>
            <a:endParaRPr lang="en-US" sz="2187" dirty="0"/>
          </a:p>
        </p:txBody>
      </p:sp>
      <p:sp>
        <p:nvSpPr>
          <p:cNvPr id="5" name="Text 2"/>
          <p:cNvSpPr/>
          <p:nvPr/>
        </p:nvSpPr>
        <p:spPr>
          <a:xfrm>
            <a:off x="2037993" y="1631990"/>
            <a:ext cx="10554414" cy="1066205"/>
          </a:xfrm>
          <a:prstGeom prst="rect">
            <a:avLst/>
          </a:prstGeom>
          <a:noFill/>
          <a:ln/>
        </p:spPr>
        <p:txBody>
          <a:bodyPr wrap="square" rtlCol="0" anchor="t"/>
          <a:lstStyle/>
          <a:p>
            <a:pPr marL="0" indent="0">
              <a:lnSpc>
                <a:spcPts val="2799"/>
              </a:lnSpc>
              <a:buNone/>
            </a:pPr>
            <a:r>
              <a:rPr lang="en-US" sz="1750" dirty="0">
                <a:solidFill>
                  <a:srgbClr val="DCD7E5"/>
                </a:solidFill>
                <a:latin typeface="Heebo" pitchFamily="34" charset="0"/>
                <a:ea typeface="Heebo" pitchFamily="34" charset="-122"/>
                <a:cs typeface="Heebo" pitchFamily="34" charset="-120"/>
              </a:rPr>
              <a:t>Edit Result Functionality: This page allows administrators or authorized users to edit student result details, such as their marks for different academic years, which is crucial for maintaining accurate academic records.</a:t>
            </a:r>
            <a:endParaRPr lang="en-US" sz="1750" dirty="0"/>
          </a:p>
        </p:txBody>
      </p:sp>
      <p:sp>
        <p:nvSpPr>
          <p:cNvPr id="6" name="Text 3"/>
          <p:cNvSpPr/>
          <p:nvPr/>
        </p:nvSpPr>
        <p:spPr>
          <a:xfrm>
            <a:off x="2393394" y="2948107"/>
            <a:ext cx="10199013" cy="710803"/>
          </a:xfrm>
          <a:prstGeom prst="rect">
            <a:avLst/>
          </a:prstGeom>
          <a:noFill/>
          <a:ln/>
        </p:spPr>
        <p:txBody>
          <a:bodyPr wrap="square" rtlCol="0" anchor="t"/>
          <a:lstStyle/>
          <a:p>
            <a:pPr marL="342900" indent="-342900" algn="l">
              <a:lnSpc>
                <a:spcPts val="2799"/>
              </a:lnSpc>
              <a:buSzPct val="100000"/>
              <a:buChar char="•"/>
            </a:pPr>
            <a:r>
              <a:rPr lang="en-US" sz="1750" b="1" dirty="0">
                <a:solidFill>
                  <a:srgbClr val="DCD7E5"/>
                </a:solidFill>
                <a:latin typeface="Heebo" pitchFamily="34" charset="0"/>
                <a:ea typeface="Heebo" pitchFamily="34" charset="-122"/>
                <a:cs typeface="Heebo" pitchFamily="34" charset="-120"/>
              </a:rPr>
              <a:t>Navigation</a:t>
            </a:r>
            <a:r>
              <a:rPr lang="en-US" sz="1750" dirty="0">
                <a:solidFill>
                  <a:srgbClr val="DCD7E5"/>
                </a:solidFill>
                <a:latin typeface="Heebo" pitchFamily="34" charset="0"/>
                <a:ea typeface="Heebo" pitchFamily="34" charset="-122"/>
                <a:cs typeface="Heebo" pitchFamily="34" charset="-120"/>
              </a:rPr>
              <a:t>: Users can easily navigate between different sections of the system, including the dashboard, view result, add result, and logout, enhancing user experience and system usability.</a:t>
            </a:r>
            <a:endParaRPr lang="en-US" sz="1750" dirty="0"/>
          </a:p>
        </p:txBody>
      </p:sp>
      <p:sp>
        <p:nvSpPr>
          <p:cNvPr id="7" name="Text 4"/>
          <p:cNvSpPr/>
          <p:nvPr/>
        </p:nvSpPr>
        <p:spPr>
          <a:xfrm>
            <a:off x="2393394" y="3747730"/>
            <a:ext cx="10199013" cy="1066205"/>
          </a:xfrm>
          <a:prstGeom prst="rect">
            <a:avLst/>
          </a:prstGeom>
          <a:noFill/>
          <a:ln/>
        </p:spPr>
        <p:txBody>
          <a:bodyPr wrap="square" rtlCol="0" anchor="t"/>
          <a:lstStyle/>
          <a:p>
            <a:pPr marL="342900" indent="-342900" algn="l">
              <a:lnSpc>
                <a:spcPts val="2799"/>
              </a:lnSpc>
              <a:buSzPct val="100000"/>
              <a:buChar char="•"/>
            </a:pPr>
            <a:r>
              <a:rPr lang="en-US" sz="1750" b="1" dirty="0">
                <a:solidFill>
                  <a:srgbClr val="DCD7E5"/>
                </a:solidFill>
                <a:latin typeface="Heebo" pitchFamily="34" charset="0"/>
                <a:ea typeface="Heebo" pitchFamily="34" charset="-122"/>
                <a:cs typeface="Heebo" pitchFamily="34" charset="-120"/>
              </a:rPr>
              <a:t>Form Interaction</a:t>
            </a:r>
            <a:r>
              <a:rPr lang="en-US" sz="1750" dirty="0">
                <a:solidFill>
                  <a:srgbClr val="DCD7E5"/>
                </a:solidFill>
                <a:latin typeface="Heebo" pitchFamily="34" charset="0"/>
                <a:ea typeface="Heebo" pitchFamily="34" charset="-122"/>
                <a:cs typeface="Heebo" pitchFamily="34" charset="-120"/>
              </a:rPr>
              <a:t>: Users can input the registration number of the student and then edit their details, with the option to save the changes made. This form facilitates user interaction and data modification within the system.</a:t>
            </a:r>
            <a:endParaRPr lang="en-US" sz="1750" dirty="0"/>
          </a:p>
        </p:txBody>
      </p:sp>
      <p:sp>
        <p:nvSpPr>
          <p:cNvPr id="8" name="Text 5"/>
          <p:cNvSpPr/>
          <p:nvPr/>
        </p:nvSpPr>
        <p:spPr>
          <a:xfrm>
            <a:off x="2393394" y="4902756"/>
            <a:ext cx="10199013" cy="726043"/>
          </a:xfrm>
          <a:prstGeom prst="rect">
            <a:avLst/>
          </a:prstGeom>
          <a:noFill/>
          <a:ln/>
        </p:spPr>
        <p:txBody>
          <a:bodyPr wrap="square" rtlCol="0" anchor="t"/>
          <a:lstStyle/>
          <a:p>
            <a:pPr marL="342900" indent="-342900" algn="l">
              <a:lnSpc>
                <a:spcPts val="2799"/>
              </a:lnSpc>
              <a:buSzPct val="100000"/>
              <a:buChar char="•"/>
            </a:pPr>
            <a:r>
              <a:rPr lang="en-US" sz="1750" b="1" dirty="0">
                <a:solidFill>
                  <a:srgbClr val="DCD7E5"/>
                </a:solidFill>
                <a:latin typeface="Heebo" pitchFamily="34" charset="0"/>
                <a:ea typeface="Heebo" pitchFamily="34" charset="-122"/>
                <a:cs typeface="Heebo" pitchFamily="34" charset="-120"/>
              </a:rPr>
              <a:t>Data Validation</a:t>
            </a:r>
            <a:r>
              <a:rPr lang="en-US" sz="1750" dirty="0">
                <a:solidFill>
                  <a:srgbClr val="DCD7E5"/>
                </a:solidFill>
                <a:latin typeface="Heebo" pitchFamily="34" charset="0"/>
                <a:ea typeface="Heebo" pitchFamily="34" charset="-122"/>
                <a:cs typeface="Heebo" pitchFamily="34" charset="-120"/>
              </a:rPr>
              <a:t>: HTML attributes like </a:t>
            </a:r>
            <a:r>
              <a:rPr lang="en-US" sz="1750" dirty="0">
                <a:solidFill>
                  <a:srgbClr val="DCD7E5"/>
                </a:solidFill>
                <a:highlight>
                  <a:srgbClr val="240B41"/>
                </a:highlight>
                <a:latin typeface="Consolas" pitchFamily="34" charset="0"/>
                <a:ea typeface="Consolas" pitchFamily="34" charset="-122"/>
                <a:cs typeface="Consolas" pitchFamily="34" charset="-120"/>
              </a:rPr>
              <a:t>required</a:t>
            </a:r>
            <a:r>
              <a:rPr lang="en-US" sz="1750" dirty="0">
                <a:solidFill>
                  <a:srgbClr val="DCD7E5"/>
                </a:solidFill>
                <a:latin typeface="Heebo" pitchFamily="34" charset="0"/>
                <a:ea typeface="Heebo" pitchFamily="34" charset="-122"/>
                <a:cs typeface="Heebo" pitchFamily="34" charset="-120"/>
              </a:rPr>
              <a:t> ensure that essential fields are filled before submitting the form, improving data integrity.</a:t>
            </a:r>
            <a:endParaRPr lang="en-US" sz="1750" dirty="0"/>
          </a:p>
        </p:txBody>
      </p:sp>
      <p:sp>
        <p:nvSpPr>
          <p:cNvPr id="9" name="Text 6"/>
          <p:cNvSpPr/>
          <p:nvPr/>
        </p:nvSpPr>
        <p:spPr>
          <a:xfrm>
            <a:off x="2393394" y="5717619"/>
            <a:ext cx="10199013" cy="1066205"/>
          </a:xfrm>
          <a:prstGeom prst="rect">
            <a:avLst/>
          </a:prstGeom>
          <a:noFill/>
          <a:ln/>
        </p:spPr>
        <p:txBody>
          <a:bodyPr wrap="square" rtlCol="0" anchor="t"/>
          <a:lstStyle/>
          <a:p>
            <a:pPr marL="342900" indent="-342900" algn="l">
              <a:lnSpc>
                <a:spcPts val="2799"/>
              </a:lnSpc>
              <a:buSzPct val="100000"/>
              <a:buChar char="•"/>
            </a:pPr>
            <a:r>
              <a:rPr lang="en-US" sz="1750" b="1" dirty="0">
                <a:solidFill>
                  <a:srgbClr val="DCD7E5"/>
                </a:solidFill>
                <a:latin typeface="Heebo" pitchFamily="34" charset="0"/>
                <a:ea typeface="Heebo" pitchFamily="34" charset="-122"/>
                <a:cs typeface="Heebo" pitchFamily="34" charset="-120"/>
              </a:rPr>
              <a:t>Script Integration</a:t>
            </a:r>
            <a:r>
              <a:rPr lang="en-US" sz="1750" dirty="0">
                <a:solidFill>
                  <a:srgbClr val="DCD7E5"/>
                </a:solidFill>
                <a:latin typeface="Heebo" pitchFamily="34" charset="0"/>
                <a:ea typeface="Heebo" pitchFamily="34" charset="-122"/>
                <a:cs typeface="Heebo" pitchFamily="34" charset="-120"/>
              </a:rPr>
              <a:t>: The inclusion of JavaScript files indicates the presence of client-side scripting to handle dynamic behavior, such as displaying the edit form upon searching for a student's registration number.</a:t>
            </a:r>
            <a:endParaRPr lang="en-US" sz="1750" dirty="0"/>
          </a:p>
        </p:txBody>
      </p:sp>
      <p:sp>
        <p:nvSpPr>
          <p:cNvPr id="10" name="Text 7"/>
          <p:cNvSpPr/>
          <p:nvPr/>
        </p:nvSpPr>
        <p:spPr>
          <a:xfrm>
            <a:off x="2037993" y="7033736"/>
            <a:ext cx="10554414" cy="355402"/>
          </a:xfrm>
          <a:prstGeom prst="rect">
            <a:avLst/>
          </a:prstGeom>
          <a:noFill/>
          <a:ln/>
        </p:spPr>
        <p:txBody>
          <a:bodyPr wrap="none" rtlCol="0" anchor="t"/>
          <a:lstStyle/>
          <a:p>
            <a:pPr marL="0" indent="0">
              <a:lnSpc>
                <a:spcPts val="2799"/>
              </a:lnSpc>
              <a:buNone/>
            </a:pP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sp>
      <p:sp>
        <p:nvSpPr>
          <p:cNvPr id="4" name="Text 1"/>
          <p:cNvSpPr/>
          <p:nvPr/>
        </p:nvSpPr>
        <p:spPr>
          <a:xfrm>
            <a:off x="2037993" y="2261354"/>
            <a:ext cx="2777490" cy="347186"/>
          </a:xfrm>
          <a:prstGeom prst="rect">
            <a:avLst/>
          </a:prstGeom>
          <a:noFill/>
          <a:ln/>
        </p:spPr>
        <p:txBody>
          <a:bodyPr wrap="none" rtlCol="0" anchor="t"/>
          <a:lstStyle/>
          <a:p>
            <a:pPr marL="0" indent="0">
              <a:lnSpc>
                <a:spcPts val="2734"/>
              </a:lnSpc>
              <a:buNone/>
            </a:pPr>
            <a:r>
              <a:rPr lang="en-US" sz="2187" dirty="0">
                <a:solidFill>
                  <a:srgbClr val="F2F0F4"/>
                </a:solidFill>
                <a:latin typeface="Montserrat" pitchFamily="34" charset="0"/>
                <a:ea typeface="Montserrat" pitchFamily="34" charset="-122"/>
                <a:cs typeface="Montserrat" pitchFamily="34" charset="-120"/>
              </a:rPr>
              <a:t>Search:</a:t>
            </a:r>
            <a:endParaRPr lang="en-US" sz="2187" dirty="0"/>
          </a:p>
        </p:txBody>
      </p:sp>
      <p:sp>
        <p:nvSpPr>
          <p:cNvPr id="5" name="Text 2"/>
          <p:cNvSpPr/>
          <p:nvPr/>
        </p:nvSpPr>
        <p:spPr>
          <a:xfrm>
            <a:off x="2037993" y="3052882"/>
            <a:ext cx="10554414" cy="710803"/>
          </a:xfrm>
          <a:prstGeom prst="rect">
            <a:avLst/>
          </a:prstGeom>
          <a:noFill/>
          <a:ln/>
        </p:spPr>
        <p:txBody>
          <a:bodyPr wrap="square" rtlCol="0" anchor="t"/>
          <a:lstStyle/>
          <a:p>
            <a:pPr marL="0" indent="0">
              <a:lnSpc>
                <a:spcPts val="2799"/>
              </a:lnSpc>
              <a:buNone/>
            </a:pPr>
            <a:r>
              <a:rPr lang="en-US" sz="1750" dirty="0">
                <a:solidFill>
                  <a:srgbClr val="DCD7E5"/>
                </a:solidFill>
                <a:latin typeface="Heebo" pitchFamily="34" charset="0"/>
                <a:ea typeface="Heebo" pitchFamily="34" charset="-122"/>
                <a:cs typeface="Heebo" pitchFamily="34" charset="-120"/>
              </a:rPr>
              <a:t>This code is likely part of a web application designed for educational institutions or any organization where student records are managed.</a:t>
            </a:r>
            <a:endParaRPr lang="en-US" sz="1750" dirty="0"/>
          </a:p>
        </p:txBody>
      </p:sp>
      <p:sp>
        <p:nvSpPr>
          <p:cNvPr id="6" name="Text 3"/>
          <p:cNvSpPr/>
          <p:nvPr/>
        </p:nvSpPr>
        <p:spPr>
          <a:xfrm>
            <a:off x="2393394" y="4013597"/>
            <a:ext cx="10199013" cy="355402"/>
          </a:xfrm>
          <a:prstGeom prst="rect">
            <a:avLst/>
          </a:prstGeom>
          <a:noFill/>
          <a:ln/>
        </p:spPr>
        <p:txBody>
          <a:bodyPr wrap="none" rtlCol="0" anchor="t"/>
          <a:lstStyle/>
          <a:p>
            <a:pPr marL="342900" indent="-342900" algn="l">
              <a:lnSpc>
                <a:spcPts val="2799"/>
              </a:lnSpc>
              <a:buSzPct val="100000"/>
              <a:buChar char="•"/>
            </a:pPr>
            <a:r>
              <a:rPr lang="en-US" sz="1750" dirty="0">
                <a:solidFill>
                  <a:srgbClr val="DCD7E5"/>
                </a:solidFill>
                <a:latin typeface="Heebo" pitchFamily="34" charset="0"/>
                <a:ea typeface="Heebo" pitchFamily="34" charset="-122"/>
                <a:cs typeface="Heebo" pitchFamily="34" charset="-120"/>
              </a:rPr>
              <a:t>It allows users to search for student details by entering their registration number.</a:t>
            </a:r>
            <a:endParaRPr lang="en-US" sz="1750" dirty="0"/>
          </a:p>
        </p:txBody>
      </p:sp>
      <p:sp>
        <p:nvSpPr>
          <p:cNvPr id="7" name="Text 4"/>
          <p:cNvSpPr/>
          <p:nvPr/>
        </p:nvSpPr>
        <p:spPr>
          <a:xfrm>
            <a:off x="2393394" y="4457819"/>
            <a:ext cx="10199013" cy="710803"/>
          </a:xfrm>
          <a:prstGeom prst="rect">
            <a:avLst/>
          </a:prstGeom>
          <a:noFill/>
          <a:ln/>
        </p:spPr>
        <p:txBody>
          <a:bodyPr wrap="square" rtlCol="0" anchor="t"/>
          <a:lstStyle/>
          <a:p>
            <a:pPr marL="342900" indent="-342900" algn="l">
              <a:lnSpc>
                <a:spcPts val="2799"/>
              </a:lnSpc>
              <a:buSzPct val="100000"/>
              <a:buChar char="•"/>
            </a:pPr>
            <a:r>
              <a:rPr lang="en-US" sz="1750" dirty="0">
                <a:solidFill>
                  <a:srgbClr val="DCD7E5"/>
                </a:solidFill>
                <a:latin typeface="Heebo" pitchFamily="34" charset="0"/>
                <a:ea typeface="Heebo" pitchFamily="34" charset="-122"/>
                <a:cs typeface="Heebo" pitchFamily="34" charset="-120"/>
              </a:rPr>
              <a:t>Upon entering a registration number, the application dynamically fetches and displays the corresponding student's details including their name, year, marks, and mobile number.</a:t>
            </a:r>
            <a:endParaRPr lang="en-US" sz="1750" dirty="0"/>
          </a:p>
        </p:txBody>
      </p:sp>
      <p:sp>
        <p:nvSpPr>
          <p:cNvPr id="8" name="Text 5"/>
          <p:cNvSpPr/>
          <p:nvPr/>
        </p:nvSpPr>
        <p:spPr>
          <a:xfrm>
            <a:off x="2393394" y="5257443"/>
            <a:ext cx="10199013" cy="710803"/>
          </a:xfrm>
          <a:prstGeom prst="rect">
            <a:avLst/>
          </a:prstGeom>
          <a:noFill/>
          <a:ln/>
        </p:spPr>
        <p:txBody>
          <a:bodyPr wrap="square" rtlCol="0" anchor="t"/>
          <a:lstStyle/>
          <a:p>
            <a:pPr marL="342900" indent="-342900" algn="l">
              <a:lnSpc>
                <a:spcPts val="2799"/>
              </a:lnSpc>
              <a:buSzPct val="100000"/>
              <a:buChar char="•"/>
            </a:pPr>
            <a:r>
              <a:rPr lang="en-US" sz="1750" dirty="0">
                <a:solidFill>
                  <a:srgbClr val="DCD7E5"/>
                </a:solidFill>
                <a:latin typeface="Heebo" pitchFamily="34" charset="0"/>
                <a:ea typeface="Heebo" pitchFamily="34" charset="-122"/>
                <a:cs typeface="Heebo" pitchFamily="34" charset="-120"/>
              </a:rPr>
              <a:t>The "Back" button enables users to navigate back to the previous page, presumably a dashboard or search form.</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sp>
      <p:sp>
        <p:nvSpPr>
          <p:cNvPr id="4" name="Text 1"/>
          <p:cNvSpPr/>
          <p:nvPr/>
        </p:nvSpPr>
        <p:spPr>
          <a:xfrm>
            <a:off x="2037993" y="1364575"/>
            <a:ext cx="2777490" cy="347186"/>
          </a:xfrm>
          <a:prstGeom prst="rect">
            <a:avLst/>
          </a:prstGeom>
          <a:noFill/>
          <a:ln/>
        </p:spPr>
        <p:txBody>
          <a:bodyPr wrap="none" rtlCol="0" anchor="t"/>
          <a:lstStyle/>
          <a:p>
            <a:pPr marL="0" indent="0">
              <a:lnSpc>
                <a:spcPts val="2734"/>
              </a:lnSpc>
              <a:buNone/>
            </a:pPr>
            <a:r>
              <a:rPr lang="en-US" sz="2187" dirty="0">
                <a:solidFill>
                  <a:srgbClr val="F2F0F4"/>
                </a:solidFill>
                <a:latin typeface="Montserrat" pitchFamily="34" charset="0"/>
                <a:ea typeface="Montserrat" pitchFamily="34" charset="-122"/>
                <a:cs typeface="Montserrat" pitchFamily="34" charset="-120"/>
              </a:rPr>
              <a:t>View result:</a:t>
            </a:r>
            <a:endParaRPr lang="en-US" sz="2187" dirty="0"/>
          </a:p>
        </p:txBody>
      </p:sp>
      <p:sp>
        <p:nvSpPr>
          <p:cNvPr id="5" name="Text 2"/>
          <p:cNvSpPr/>
          <p:nvPr/>
        </p:nvSpPr>
        <p:spPr>
          <a:xfrm>
            <a:off x="2393394" y="2156103"/>
            <a:ext cx="10199013" cy="710803"/>
          </a:xfrm>
          <a:prstGeom prst="rect">
            <a:avLst/>
          </a:prstGeom>
          <a:noFill/>
          <a:ln/>
        </p:spPr>
        <p:txBody>
          <a:bodyPr wrap="square" rtlCol="0" anchor="t"/>
          <a:lstStyle/>
          <a:p>
            <a:pPr marL="342900" indent="-342900" algn="l">
              <a:lnSpc>
                <a:spcPts val="2799"/>
              </a:lnSpc>
              <a:buSzPct val="100000"/>
              <a:buFont typeface="+mj-lt"/>
              <a:buAutoNum type="arabicPeriod"/>
            </a:pPr>
            <a:r>
              <a:rPr lang="en-US" sz="1750" b="1" dirty="0">
                <a:solidFill>
                  <a:srgbClr val="DCD7E5"/>
                </a:solidFill>
                <a:latin typeface="Heebo" pitchFamily="34" charset="0"/>
                <a:ea typeface="Heebo" pitchFamily="34" charset="-122"/>
                <a:cs typeface="Heebo" pitchFamily="34" charset="-120"/>
              </a:rPr>
              <a:t>Student Result Management</a:t>
            </a:r>
            <a:r>
              <a:rPr lang="en-US" sz="1750" dirty="0">
                <a:solidFill>
                  <a:srgbClr val="DCD7E5"/>
                </a:solidFill>
                <a:latin typeface="Heebo" pitchFamily="34" charset="0"/>
                <a:ea typeface="Heebo" pitchFamily="34" charset="-122"/>
                <a:cs typeface="Heebo" pitchFamily="34" charset="-120"/>
              </a:rPr>
              <a:t>: Provides a platform for students, teachers, and administrators to access and view academic results conveniently.</a:t>
            </a:r>
            <a:endParaRPr lang="en-US" sz="1750" dirty="0"/>
          </a:p>
        </p:txBody>
      </p:sp>
      <p:sp>
        <p:nvSpPr>
          <p:cNvPr id="6" name="Text 3"/>
          <p:cNvSpPr/>
          <p:nvPr/>
        </p:nvSpPr>
        <p:spPr>
          <a:xfrm>
            <a:off x="2393394" y="2955727"/>
            <a:ext cx="10199013" cy="710803"/>
          </a:xfrm>
          <a:prstGeom prst="rect">
            <a:avLst/>
          </a:prstGeom>
          <a:noFill/>
          <a:ln/>
        </p:spPr>
        <p:txBody>
          <a:bodyPr wrap="square" rtlCol="0" anchor="t"/>
          <a:lstStyle/>
          <a:p>
            <a:pPr marL="342900" indent="-342900" algn="l">
              <a:lnSpc>
                <a:spcPts val="2799"/>
              </a:lnSpc>
              <a:buSzPct val="100000"/>
              <a:buFont typeface="+mj-lt"/>
              <a:buAutoNum type="arabicPeriod" startAt="2"/>
            </a:pPr>
            <a:r>
              <a:rPr lang="en-US" sz="1750" b="1" dirty="0">
                <a:solidFill>
                  <a:srgbClr val="DCD7E5"/>
                </a:solidFill>
                <a:latin typeface="Heebo" pitchFamily="34" charset="0"/>
                <a:ea typeface="Heebo" pitchFamily="34" charset="-122"/>
                <a:cs typeface="Heebo" pitchFamily="34" charset="-120"/>
              </a:rPr>
              <a:t>User Navigation</a:t>
            </a:r>
            <a:r>
              <a:rPr lang="en-US" sz="1750" dirty="0">
                <a:solidFill>
                  <a:srgbClr val="DCD7E5"/>
                </a:solidFill>
                <a:latin typeface="Heebo" pitchFamily="34" charset="0"/>
                <a:ea typeface="Heebo" pitchFamily="34" charset="-122"/>
                <a:cs typeface="Heebo" pitchFamily="34" charset="-120"/>
              </a:rPr>
              <a:t>: Offers easy navigation through the dashboard with links to various sections such as viewing results, adding results, and editing results.</a:t>
            </a:r>
            <a:endParaRPr lang="en-US" sz="1750" dirty="0"/>
          </a:p>
        </p:txBody>
      </p:sp>
      <p:sp>
        <p:nvSpPr>
          <p:cNvPr id="7" name="Text 4"/>
          <p:cNvSpPr/>
          <p:nvPr/>
        </p:nvSpPr>
        <p:spPr>
          <a:xfrm>
            <a:off x="2393394" y="3755350"/>
            <a:ext cx="10199013" cy="710803"/>
          </a:xfrm>
          <a:prstGeom prst="rect">
            <a:avLst/>
          </a:prstGeom>
          <a:noFill/>
          <a:ln/>
        </p:spPr>
        <p:txBody>
          <a:bodyPr wrap="square" rtlCol="0" anchor="t"/>
          <a:lstStyle/>
          <a:p>
            <a:pPr marL="342900" indent="-342900" algn="l">
              <a:lnSpc>
                <a:spcPts val="2799"/>
              </a:lnSpc>
              <a:buSzPct val="100000"/>
              <a:buFont typeface="+mj-lt"/>
              <a:buAutoNum type="arabicPeriod" startAt="3"/>
            </a:pPr>
            <a:r>
              <a:rPr lang="en-US" sz="1750" b="1" dirty="0">
                <a:solidFill>
                  <a:srgbClr val="DCD7E5"/>
                </a:solidFill>
                <a:latin typeface="Heebo" pitchFamily="34" charset="0"/>
                <a:ea typeface="Heebo" pitchFamily="34" charset="-122"/>
                <a:cs typeface="Heebo" pitchFamily="34" charset="-120"/>
              </a:rPr>
              <a:t>Dynamic Result Display</a:t>
            </a:r>
            <a:r>
              <a:rPr lang="en-US" sz="1750" dirty="0">
                <a:solidFill>
                  <a:srgbClr val="DCD7E5"/>
                </a:solidFill>
                <a:latin typeface="Heebo" pitchFamily="34" charset="0"/>
                <a:ea typeface="Heebo" pitchFamily="34" charset="-122"/>
                <a:cs typeface="Heebo" pitchFamily="34" charset="-120"/>
              </a:rPr>
              <a:t>: Utilizes JavaScript to dynamically display search results, enhancing user experience by updating content without page reloads.</a:t>
            </a:r>
            <a:endParaRPr lang="en-US" sz="1750" dirty="0"/>
          </a:p>
        </p:txBody>
      </p:sp>
      <p:sp>
        <p:nvSpPr>
          <p:cNvPr id="8" name="Text 5"/>
          <p:cNvSpPr/>
          <p:nvPr/>
        </p:nvSpPr>
        <p:spPr>
          <a:xfrm>
            <a:off x="2393394" y="4554974"/>
            <a:ext cx="10199013" cy="710803"/>
          </a:xfrm>
          <a:prstGeom prst="rect">
            <a:avLst/>
          </a:prstGeom>
          <a:noFill/>
          <a:ln/>
        </p:spPr>
        <p:txBody>
          <a:bodyPr wrap="square" rtlCol="0" anchor="t"/>
          <a:lstStyle/>
          <a:p>
            <a:pPr marL="342900" indent="-342900" algn="l">
              <a:lnSpc>
                <a:spcPts val="2799"/>
              </a:lnSpc>
              <a:buSzPct val="100000"/>
              <a:buFont typeface="+mj-lt"/>
              <a:buAutoNum type="arabicPeriod" startAt="4"/>
            </a:pPr>
            <a:r>
              <a:rPr lang="en-US" sz="1750" b="1" dirty="0">
                <a:solidFill>
                  <a:srgbClr val="DCD7E5"/>
                </a:solidFill>
                <a:latin typeface="Heebo" pitchFamily="34" charset="0"/>
                <a:ea typeface="Heebo" pitchFamily="34" charset="-122"/>
                <a:cs typeface="Heebo" pitchFamily="34" charset="-120"/>
              </a:rPr>
              <a:t>Data Presentation</a:t>
            </a:r>
            <a:r>
              <a:rPr lang="en-US" sz="1750" dirty="0">
                <a:solidFill>
                  <a:srgbClr val="DCD7E5"/>
                </a:solidFill>
                <a:latin typeface="Heebo" pitchFamily="34" charset="0"/>
                <a:ea typeface="Heebo" pitchFamily="34" charset="-122"/>
                <a:cs typeface="Heebo" pitchFamily="34" charset="-120"/>
              </a:rPr>
              <a:t>: Presents student results in a structured format, making it easy for users to interpret and analyze academic performance.</a:t>
            </a:r>
            <a:endParaRPr lang="en-US" sz="1750" dirty="0"/>
          </a:p>
        </p:txBody>
      </p:sp>
      <p:sp>
        <p:nvSpPr>
          <p:cNvPr id="9" name="Text 6"/>
          <p:cNvSpPr/>
          <p:nvPr/>
        </p:nvSpPr>
        <p:spPr>
          <a:xfrm>
            <a:off x="2393394" y="5354598"/>
            <a:ext cx="10199013" cy="710803"/>
          </a:xfrm>
          <a:prstGeom prst="rect">
            <a:avLst/>
          </a:prstGeom>
          <a:noFill/>
          <a:ln/>
        </p:spPr>
        <p:txBody>
          <a:bodyPr wrap="square" rtlCol="0" anchor="t"/>
          <a:lstStyle/>
          <a:p>
            <a:pPr marL="342900" indent="-342900" algn="l">
              <a:lnSpc>
                <a:spcPts val="2799"/>
              </a:lnSpc>
              <a:buSzPct val="100000"/>
              <a:buFont typeface="+mj-lt"/>
              <a:buAutoNum type="arabicPeriod" startAt="5"/>
            </a:pPr>
            <a:r>
              <a:rPr lang="en-US" sz="1750" b="1" dirty="0">
                <a:solidFill>
                  <a:srgbClr val="DCD7E5"/>
                </a:solidFill>
                <a:latin typeface="Heebo" pitchFamily="34" charset="0"/>
                <a:ea typeface="Heebo" pitchFamily="34" charset="-122"/>
                <a:cs typeface="Heebo" pitchFamily="34" charset="-120"/>
              </a:rPr>
              <a:t>Responsive Design</a:t>
            </a:r>
            <a:r>
              <a:rPr lang="en-US" sz="1750" dirty="0">
                <a:solidFill>
                  <a:srgbClr val="DCD7E5"/>
                </a:solidFill>
                <a:latin typeface="Heebo" pitchFamily="34" charset="0"/>
                <a:ea typeface="Heebo" pitchFamily="34" charset="-122"/>
                <a:cs typeface="Heebo" pitchFamily="34" charset="-120"/>
              </a:rPr>
              <a:t>: Ensures responsiveness across different devices and screen sizes, facilitating access to student results from desktops, tablets, and smartphones.</a:t>
            </a:r>
            <a:endParaRPr lang="en-US" sz="1750" dirty="0"/>
          </a:p>
        </p:txBody>
      </p:sp>
      <p:sp>
        <p:nvSpPr>
          <p:cNvPr id="10" name="Text 7"/>
          <p:cNvSpPr/>
          <p:nvPr/>
        </p:nvSpPr>
        <p:spPr>
          <a:xfrm>
            <a:off x="2393394" y="6154222"/>
            <a:ext cx="10199013" cy="710803"/>
          </a:xfrm>
          <a:prstGeom prst="rect">
            <a:avLst/>
          </a:prstGeom>
          <a:noFill/>
          <a:ln/>
        </p:spPr>
        <p:txBody>
          <a:bodyPr wrap="square" rtlCol="0" anchor="t"/>
          <a:lstStyle/>
          <a:p>
            <a:pPr marL="342900" indent="-342900" algn="l">
              <a:lnSpc>
                <a:spcPts val="2799"/>
              </a:lnSpc>
              <a:buSzPct val="100000"/>
              <a:buFont typeface="+mj-lt"/>
              <a:buAutoNum type="arabicPeriod" startAt="6"/>
            </a:pPr>
            <a:r>
              <a:rPr lang="en-US" sz="1750" b="1" dirty="0">
                <a:solidFill>
                  <a:srgbClr val="DCD7E5"/>
                </a:solidFill>
                <a:latin typeface="Heebo" pitchFamily="34" charset="0"/>
                <a:ea typeface="Heebo" pitchFamily="34" charset="-122"/>
                <a:cs typeface="Heebo" pitchFamily="34" charset="-120"/>
              </a:rPr>
              <a:t>Efficient Information Retrieval</a:t>
            </a:r>
            <a:r>
              <a:rPr lang="en-US" sz="1750" dirty="0">
                <a:solidFill>
                  <a:srgbClr val="DCD7E5"/>
                </a:solidFill>
                <a:latin typeface="Heebo" pitchFamily="34" charset="0"/>
                <a:ea typeface="Heebo" pitchFamily="34" charset="-122"/>
                <a:cs typeface="Heebo" pitchFamily="34" charset="-120"/>
              </a:rPr>
              <a:t>: Allows users to quickly search for and access specific student records using registration numbers or other identifiers.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28575"/>
            <a:ext cx="14630400" cy="8229600"/>
          </a:xfrm>
          <a:prstGeom prst="rect">
            <a:avLst/>
          </a:prstGeom>
          <a:solidFill>
            <a:srgbClr val="0D0A2C">
              <a:alpha val="75000"/>
            </a:srgbClr>
          </a:solidFill>
          <a:ln/>
        </p:spPr>
      </p:sp>
      <p:sp>
        <p:nvSpPr>
          <p:cNvPr id="4" name="Text 1"/>
          <p:cNvSpPr/>
          <p:nvPr/>
        </p:nvSpPr>
        <p:spPr>
          <a:xfrm>
            <a:off x="2037993" y="2004179"/>
            <a:ext cx="10554414" cy="1388745"/>
          </a:xfrm>
          <a:prstGeom prst="rect">
            <a:avLst/>
          </a:prstGeom>
          <a:noFill/>
          <a:ln/>
        </p:spPr>
        <p:txBody>
          <a:bodyPr wrap="square" rtlCol="0" anchor="t"/>
          <a:lstStyle/>
          <a:p>
            <a:pPr marL="0" indent="0">
              <a:lnSpc>
                <a:spcPts val="5468"/>
              </a:lnSpc>
              <a:buNone/>
            </a:pPr>
            <a:r>
              <a:rPr lang="en-US" sz="4374" dirty="0">
                <a:solidFill>
                  <a:srgbClr val="F2F0F4"/>
                </a:solidFill>
                <a:latin typeface="Montserrat" pitchFamily="34" charset="0"/>
                <a:ea typeface="Montserrat" pitchFamily="34" charset="-122"/>
                <a:cs typeface="Montserrat" pitchFamily="34" charset="-120"/>
              </a:rPr>
              <a:t>Features of the Student Result Management System</a:t>
            </a:r>
            <a:endParaRPr lang="en-US" sz="4374" dirty="0"/>
          </a:p>
        </p:txBody>
      </p:sp>
      <p:sp>
        <p:nvSpPr>
          <p:cNvPr id="5" name="Shape 2"/>
          <p:cNvSpPr/>
          <p:nvPr/>
        </p:nvSpPr>
        <p:spPr>
          <a:xfrm>
            <a:off x="2037993" y="3899773"/>
            <a:ext cx="499943" cy="499943"/>
          </a:xfrm>
          <a:prstGeom prst="roundRect">
            <a:avLst>
              <a:gd name="adj" fmla="val 20000"/>
            </a:avLst>
          </a:prstGeom>
          <a:solidFill>
            <a:srgbClr val="3C136D"/>
          </a:solidFill>
          <a:ln w="7620">
            <a:solidFill>
              <a:srgbClr val="552C86"/>
            </a:solidFill>
            <a:prstDash val="solid"/>
          </a:ln>
        </p:spPr>
      </p:sp>
      <p:sp>
        <p:nvSpPr>
          <p:cNvPr id="6" name="Text 3"/>
          <p:cNvSpPr/>
          <p:nvPr/>
        </p:nvSpPr>
        <p:spPr>
          <a:xfrm>
            <a:off x="2227778" y="3941445"/>
            <a:ext cx="120372" cy="416481"/>
          </a:xfrm>
          <a:prstGeom prst="rect">
            <a:avLst/>
          </a:prstGeom>
          <a:noFill/>
          <a:ln/>
        </p:spPr>
        <p:txBody>
          <a:bodyPr wrap="none" rtlCol="0" anchor="t"/>
          <a:lstStyle/>
          <a:p>
            <a:pPr marL="0" indent="0" algn="ctr">
              <a:lnSpc>
                <a:spcPts val="3281"/>
              </a:lnSpc>
              <a:buNone/>
            </a:pPr>
            <a:r>
              <a:rPr lang="en-US" sz="2624" dirty="0">
                <a:solidFill>
                  <a:srgbClr val="DCD7E5"/>
                </a:solidFill>
                <a:latin typeface="Montserrat" pitchFamily="34" charset="0"/>
                <a:ea typeface="Montserrat" pitchFamily="34" charset="-122"/>
                <a:cs typeface="Montserrat" pitchFamily="34" charset="-120"/>
              </a:rPr>
              <a:t>1</a:t>
            </a:r>
            <a:endParaRPr lang="en-US" sz="2624" dirty="0"/>
          </a:p>
        </p:txBody>
      </p:sp>
      <p:sp>
        <p:nvSpPr>
          <p:cNvPr id="7" name="Text 4"/>
          <p:cNvSpPr/>
          <p:nvPr/>
        </p:nvSpPr>
        <p:spPr>
          <a:xfrm>
            <a:off x="2760107" y="3976092"/>
            <a:ext cx="2647950" cy="694373"/>
          </a:xfrm>
          <a:prstGeom prst="rect">
            <a:avLst/>
          </a:prstGeom>
          <a:noFill/>
          <a:ln/>
        </p:spPr>
        <p:txBody>
          <a:bodyPr wrap="square" rtlCol="0" anchor="t"/>
          <a:lstStyle/>
          <a:p>
            <a:pPr marL="0" indent="0">
              <a:lnSpc>
                <a:spcPts val="2734"/>
              </a:lnSpc>
              <a:buNone/>
            </a:pPr>
            <a:r>
              <a:rPr lang="en-US" sz="2187" dirty="0">
                <a:solidFill>
                  <a:srgbClr val="DCD7E5"/>
                </a:solidFill>
                <a:latin typeface="Montserrat" pitchFamily="34" charset="0"/>
                <a:ea typeface="Montserrat" pitchFamily="34" charset="-122"/>
                <a:cs typeface="Montserrat" pitchFamily="34" charset="-120"/>
              </a:rPr>
              <a:t>Performance Analysis</a:t>
            </a:r>
            <a:endParaRPr lang="en-US" sz="2187" dirty="0"/>
          </a:p>
        </p:txBody>
      </p:sp>
      <p:sp>
        <p:nvSpPr>
          <p:cNvPr id="8" name="Text 5"/>
          <p:cNvSpPr/>
          <p:nvPr/>
        </p:nvSpPr>
        <p:spPr>
          <a:xfrm>
            <a:off x="2760107" y="4803696"/>
            <a:ext cx="2647950" cy="1421606"/>
          </a:xfrm>
          <a:prstGeom prst="rect">
            <a:avLst/>
          </a:prstGeom>
          <a:noFill/>
          <a:ln/>
        </p:spPr>
        <p:txBody>
          <a:bodyPr wrap="square" rtlCol="0" anchor="t"/>
          <a:lstStyle/>
          <a:p>
            <a:pPr marL="0" indent="0">
              <a:lnSpc>
                <a:spcPts val="2799"/>
              </a:lnSpc>
              <a:buNone/>
            </a:pPr>
            <a:r>
              <a:rPr lang="en-US" sz="1750" dirty="0">
                <a:solidFill>
                  <a:srgbClr val="DCD7E5"/>
                </a:solidFill>
                <a:latin typeface="Heebo" pitchFamily="34" charset="0"/>
                <a:ea typeface="Heebo" pitchFamily="34" charset="-122"/>
                <a:cs typeface="Heebo" pitchFamily="34" charset="-120"/>
              </a:rPr>
              <a:t>It allows in-depth analysis of student performance to identify areas of improvement.</a:t>
            </a:r>
            <a:endParaRPr lang="en-US" sz="1750" dirty="0"/>
          </a:p>
        </p:txBody>
      </p:sp>
      <p:sp>
        <p:nvSpPr>
          <p:cNvPr id="9" name="Shape 6"/>
          <p:cNvSpPr/>
          <p:nvPr/>
        </p:nvSpPr>
        <p:spPr>
          <a:xfrm>
            <a:off x="5630228" y="3899773"/>
            <a:ext cx="499943" cy="499943"/>
          </a:xfrm>
          <a:prstGeom prst="roundRect">
            <a:avLst>
              <a:gd name="adj" fmla="val 20000"/>
            </a:avLst>
          </a:prstGeom>
          <a:solidFill>
            <a:srgbClr val="3C136D"/>
          </a:solidFill>
          <a:ln w="7620">
            <a:solidFill>
              <a:srgbClr val="552C86"/>
            </a:solidFill>
            <a:prstDash val="solid"/>
          </a:ln>
        </p:spPr>
      </p:sp>
      <p:sp>
        <p:nvSpPr>
          <p:cNvPr id="10" name="Text 7"/>
          <p:cNvSpPr/>
          <p:nvPr/>
        </p:nvSpPr>
        <p:spPr>
          <a:xfrm>
            <a:off x="5785485" y="3941445"/>
            <a:ext cx="189309" cy="416481"/>
          </a:xfrm>
          <a:prstGeom prst="rect">
            <a:avLst/>
          </a:prstGeom>
          <a:noFill/>
          <a:ln/>
        </p:spPr>
        <p:txBody>
          <a:bodyPr wrap="none" rtlCol="0" anchor="t"/>
          <a:lstStyle/>
          <a:p>
            <a:pPr marL="0" indent="0" algn="ctr">
              <a:lnSpc>
                <a:spcPts val="3281"/>
              </a:lnSpc>
              <a:buNone/>
            </a:pPr>
            <a:r>
              <a:rPr lang="en-US" sz="2624" dirty="0">
                <a:solidFill>
                  <a:srgbClr val="DCD7E5"/>
                </a:solidFill>
                <a:latin typeface="Montserrat" pitchFamily="34" charset="0"/>
                <a:ea typeface="Montserrat" pitchFamily="34" charset="-122"/>
                <a:cs typeface="Montserrat" pitchFamily="34" charset="-120"/>
              </a:rPr>
              <a:t>2</a:t>
            </a:r>
            <a:endParaRPr lang="en-US" sz="2624" dirty="0"/>
          </a:p>
        </p:txBody>
      </p:sp>
      <p:sp>
        <p:nvSpPr>
          <p:cNvPr id="11" name="Text 8"/>
          <p:cNvSpPr/>
          <p:nvPr/>
        </p:nvSpPr>
        <p:spPr>
          <a:xfrm>
            <a:off x="6352342" y="3976092"/>
            <a:ext cx="2647950" cy="347186"/>
          </a:xfrm>
          <a:prstGeom prst="rect">
            <a:avLst/>
          </a:prstGeom>
          <a:noFill/>
          <a:ln/>
        </p:spPr>
        <p:txBody>
          <a:bodyPr wrap="none" rtlCol="0" anchor="t"/>
          <a:lstStyle/>
          <a:p>
            <a:pPr marL="0" indent="0">
              <a:lnSpc>
                <a:spcPts val="2734"/>
              </a:lnSpc>
              <a:buNone/>
            </a:pPr>
            <a:r>
              <a:rPr lang="en-US" sz="2187" dirty="0">
                <a:solidFill>
                  <a:srgbClr val="DCD7E5"/>
                </a:solidFill>
                <a:latin typeface="Montserrat" pitchFamily="34" charset="0"/>
                <a:ea typeface="Montserrat" pitchFamily="34" charset="-122"/>
                <a:cs typeface="Montserrat" pitchFamily="34" charset="-120"/>
              </a:rPr>
              <a:t>Result Database:</a:t>
            </a:r>
            <a:endParaRPr lang="en-US" sz="2187" dirty="0"/>
          </a:p>
        </p:txBody>
      </p:sp>
      <p:sp>
        <p:nvSpPr>
          <p:cNvPr id="12" name="Text 9"/>
          <p:cNvSpPr/>
          <p:nvPr/>
        </p:nvSpPr>
        <p:spPr>
          <a:xfrm>
            <a:off x="6352342" y="4456509"/>
            <a:ext cx="2647950" cy="1066205"/>
          </a:xfrm>
          <a:prstGeom prst="rect">
            <a:avLst/>
          </a:prstGeom>
          <a:noFill/>
          <a:ln/>
        </p:spPr>
        <p:txBody>
          <a:bodyPr wrap="square" rtlCol="0" anchor="t"/>
          <a:lstStyle/>
          <a:p>
            <a:pPr marL="0" indent="0">
              <a:lnSpc>
                <a:spcPts val="2799"/>
              </a:lnSpc>
              <a:buNone/>
            </a:pPr>
            <a:r>
              <a:rPr lang="en-US" sz="1750" dirty="0">
                <a:solidFill>
                  <a:srgbClr val="DCD7E5"/>
                </a:solidFill>
                <a:latin typeface="Heebo" pitchFamily="34" charset="0"/>
                <a:ea typeface="Heebo" pitchFamily="34" charset="-122"/>
                <a:cs typeface="Heebo" pitchFamily="34" charset="-120"/>
              </a:rPr>
              <a:t>stores data of students with registration number and creates a database. </a:t>
            </a:r>
            <a:endParaRPr lang="en-US" sz="1750" dirty="0"/>
          </a:p>
        </p:txBody>
      </p:sp>
      <p:sp>
        <p:nvSpPr>
          <p:cNvPr id="13" name="Shape 10"/>
          <p:cNvSpPr/>
          <p:nvPr/>
        </p:nvSpPr>
        <p:spPr>
          <a:xfrm>
            <a:off x="9222462" y="3899773"/>
            <a:ext cx="499943" cy="499943"/>
          </a:xfrm>
          <a:prstGeom prst="roundRect">
            <a:avLst>
              <a:gd name="adj" fmla="val 20000"/>
            </a:avLst>
          </a:prstGeom>
          <a:solidFill>
            <a:srgbClr val="3C136D"/>
          </a:solidFill>
          <a:ln w="7620">
            <a:solidFill>
              <a:srgbClr val="552C86"/>
            </a:solidFill>
            <a:prstDash val="solid"/>
          </a:ln>
        </p:spPr>
      </p:sp>
      <p:sp>
        <p:nvSpPr>
          <p:cNvPr id="14" name="Text 11"/>
          <p:cNvSpPr/>
          <p:nvPr/>
        </p:nvSpPr>
        <p:spPr>
          <a:xfrm>
            <a:off x="9378434" y="3941445"/>
            <a:ext cx="188000" cy="416481"/>
          </a:xfrm>
          <a:prstGeom prst="rect">
            <a:avLst/>
          </a:prstGeom>
          <a:noFill/>
          <a:ln/>
        </p:spPr>
        <p:txBody>
          <a:bodyPr wrap="none" rtlCol="0" anchor="t"/>
          <a:lstStyle/>
          <a:p>
            <a:pPr marL="0" indent="0" algn="ctr">
              <a:lnSpc>
                <a:spcPts val="3281"/>
              </a:lnSpc>
              <a:buNone/>
            </a:pPr>
            <a:r>
              <a:rPr lang="en-US" sz="2624" dirty="0">
                <a:solidFill>
                  <a:srgbClr val="DCD7E5"/>
                </a:solidFill>
                <a:latin typeface="Montserrat" pitchFamily="34" charset="0"/>
                <a:ea typeface="Montserrat" pitchFamily="34" charset="-122"/>
                <a:cs typeface="Montserrat" pitchFamily="34" charset="-120"/>
              </a:rPr>
              <a:t>3</a:t>
            </a:r>
            <a:endParaRPr lang="en-US" sz="2624" dirty="0"/>
          </a:p>
        </p:txBody>
      </p:sp>
      <p:sp>
        <p:nvSpPr>
          <p:cNvPr id="15" name="Text 12"/>
          <p:cNvSpPr/>
          <p:nvPr/>
        </p:nvSpPr>
        <p:spPr>
          <a:xfrm>
            <a:off x="9944576" y="3976092"/>
            <a:ext cx="2647950" cy="347186"/>
          </a:xfrm>
          <a:prstGeom prst="rect">
            <a:avLst/>
          </a:prstGeom>
          <a:noFill/>
          <a:ln/>
        </p:spPr>
        <p:txBody>
          <a:bodyPr wrap="none" rtlCol="0" anchor="t"/>
          <a:lstStyle/>
          <a:p>
            <a:pPr marL="0" indent="0">
              <a:lnSpc>
                <a:spcPts val="2734"/>
              </a:lnSpc>
              <a:buNone/>
            </a:pPr>
            <a:r>
              <a:rPr lang="en-US" sz="2187" dirty="0">
                <a:solidFill>
                  <a:srgbClr val="DCD7E5"/>
                </a:solidFill>
                <a:latin typeface="Montserrat" pitchFamily="34" charset="0"/>
                <a:ea typeface="Montserrat" pitchFamily="34" charset="-122"/>
                <a:cs typeface="Montserrat" pitchFamily="34" charset="-120"/>
              </a:rPr>
              <a:t>Customization</a:t>
            </a:r>
            <a:endParaRPr lang="en-US" sz="2187" dirty="0"/>
          </a:p>
        </p:txBody>
      </p:sp>
      <p:sp>
        <p:nvSpPr>
          <p:cNvPr id="16" name="Text 13"/>
          <p:cNvSpPr/>
          <p:nvPr/>
        </p:nvSpPr>
        <p:spPr>
          <a:xfrm>
            <a:off x="9944576" y="4456509"/>
            <a:ext cx="2647950" cy="1421606"/>
          </a:xfrm>
          <a:prstGeom prst="rect">
            <a:avLst/>
          </a:prstGeom>
          <a:noFill/>
          <a:ln/>
        </p:spPr>
        <p:txBody>
          <a:bodyPr wrap="square" rtlCol="0" anchor="t"/>
          <a:lstStyle/>
          <a:p>
            <a:pPr marL="0" indent="0">
              <a:lnSpc>
                <a:spcPts val="2799"/>
              </a:lnSpc>
              <a:buNone/>
            </a:pPr>
            <a:r>
              <a:rPr lang="en-US" sz="1750" dirty="0">
                <a:solidFill>
                  <a:srgbClr val="DCD7E5"/>
                </a:solidFill>
                <a:latin typeface="Heebo" pitchFamily="34" charset="0"/>
                <a:ea typeface="Heebo" pitchFamily="34" charset="-122"/>
                <a:cs typeface="Heebo" pitchFamily="34" charset="-120"/>
              </a:rPr>
              <a:t>Allows customization of grading systems, exam types, and academic terms.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31386"/>
          </a:xfrm>
          <a:prstGeom prst="rect">
            <a:avLst/>
          </a:prstGeom>
          <a:solidFill>
            <a:srgbClr val="0D0A2C">
              <a:alpha val="75000"/>
            </a:srgbClr>
          </a:solidFill>
          <a:ln/>
        </p:spPr>
      </p:sp>
      <p:pic>
        <p:nvPicPr>
          <p:cNvPr id="4" name="Image 1" descr="preencoded.png"/>
          <p:cNvPicPr>
            <a:picLocks noChangeAspect="1"/>
          </p:cNvPicPr>
          <p:nvPr/>
        </p:nvPicPr>
        <p:blipFill>
          <a:blip r:embed="rId4"/>
          <a:stretch>
            <a:fillRect/>
          </a:stretch>
        </p:blipFill>
        <p:spPr>
          <a:xfrm>
            <a:off x="0" y="0"/>
            <a:ext cx="3657600" cy="8231386"/>
          </a:xfrm>
          <a:prstGeom prst="rect">
            <a:avLst/>
          </a:prstGeom>
        </p:spPr>
      </p:pic>
      <p:sp>
        <p:nvSpPr>
          <p:cNvPr id="5" name="Text 1"/>
          <p:cNvSpPr/>
          <p:nvPr/>
        </p:nvSpPr>
        <p:spPr>
          <a:xfrm>
            <a:off x="4421505" y="560189"/>
            <a:ext cx="9444990" cy="1273016"/>
          </a:xfrm>
          <a:prstGeom prst="rect">
            <a:avLst/>
          </a:prstGeom>
          <a:noFill/>
          <a:ln/>
        </p:spPr>
        <p:txBody>
          <a:bodyPr wrap="square" rtlCol="0" anchor="t"/>
          <a:lstStyle/>
          <a:p>
            <a:pPr marL="0" indent="0">
              <a:lnSpc>
                <a:spcPts val="5013"/>
              </a:lnSpc>
              <a:buNone/>
            </a:pPr>
            <a:r>
              <a:rPr lang="en-US" sz="4010" dirty="0">
                <a:solidFill>
                  <a:srgbClr val="F2F0F4"/>
                </a:solidFill>
                <a:latin typeface="Montserrat" pitchFamily="34" charset="0"/>
                <a:ea typeface="Montserrat" pitchFamily="34" charset="-122"/>
                <a:cs typeface="Montserrat" pitchFamily="34" charset="-120"/>
              </a:rPr>
              <a:t>Objectives of Implementing the System</a:t>
            </a:r>
            <a:endParaRPr lang="en-US" sz="4010" dirty="0"/>
          </a:p>
        </p:txBody>
      </p:sp>
      <p:pic>
        <p:nvPicPr>
          <p:cNvPr id="6" name="Image 2" descr="preencoded.png"/>
          <p:cNvPicPr>
            <a:picLocks noChangeAspect="1"/>
          </p:cNvPicPr>
          <p:nvPr/>
        </p:nvPicPr>
        <p:blipFill>
          <a:blip r:embed="rId5"/>
          <a:stretch>
            <a:fillRect/>
          </a:stretch>
        </p:blipFill>
        <p:spPr>
          <a:xfrm>
            <a:off x="4421505" y="2138720"/>
            <a:ext cx="1018461" cy="1629608"/>
          </a:xfrm>
          <a:prstGeom prst="rect">
            <a:avLst/>
          </a:prstGeom>
        </p:spPr>
      </p:pic>
      <p:sp>
        <p:nvSpPr>
          <p:cNvPr id="7" name="Text 2"/>
          <p:cNvSpPr/>
          <p:nvPr/>
        </p:nvSpPr>
        <p:spPr>
          <a:xfrm>
            <a:off x="5745480" y="2342317"/>
            <a:ext cx="2546390" cy="318254"/>
          </a:xfrm>
          <a:prstGeom prst="rect">
            <a:avLst/>
          </a:prstGeom>
          <a:noFill/>
          <a:ln/>
        </p:spPr>
        <p:txBody>
          <a:bodyPr wrap="none" rtlCol="0" anchor="t"/>
          <a:lstStyle/>
          <a:p>
            <a:pPr marL="0" indent="0" algn="l">
              <a:lnSpc>
                <a:spcPts val="2506"/>
              </a:lnSpc>
              <a:buNone/>
            </a:pPr>
            <a:r>
              <a:rPr lang="en-US" sz="2005" dirty="0">
                <a:solidFill>
                  <a:srgbClr val="DCD7E5"/>
                </a:solidFill>
                <a:latin typeface="Montserrat" pitchFamily="34" charset="0"/>
                <a:ea typeface="Montserrat" pitchFamily="34" charset="-122"/>
                <a:cs typeface="Montserrat" pitchFamily="34" charset="-120"/>
              </a:rPr>
              <a:t>Efficiency</a:t>
            </a:r>
            <a:endParaRPr lang="en-US" sz="2005" dirty="0"/>
          </a:p>
        </p:txBody>
      </p:sp>
      <p:sp>
        <p:nvSpPr>
          <p:cNvPr id="8" name="Text 3"/>
          <p:cNvSpPr/>
          <p:nvPr/>
        </p:nvSpPr>
        <p:spPr>
          <a:xfrm>
            <a:off x="5745480" y="2782729"/>
            <a:ext cx="8121015" cy="325874"/>
          </a:xfrm>
          <a:prstGeom prst="rect">
            <a:avLst/>
          </a:prstGeom>
          <a:noFill/>
          <a:ln/>
        </p:spPr>
        <p:txBody>
          <a:bodyPr wrap="none" rtlCol="0" anchor="t"/>
          <a:lstStyle/>
          <a:p>
            <a:pPr marL="0" indent="0" algn="l">
              <a:lnSpc>
                <a:spcPts val="2566"/>
              </a:lnSpc>
              <a:buNone/>
            </a:pPr>
            <a:r>
              <a:rPr lang="en-US" sz="1604" dirty="0">
                <a:solidFill>
                  <a:srgbClr val="DCD7E5"/>
                </a:solidFill>
                <a:latin typeface="Heebo" pitchFamily="34" charset="0"/>
                <a:ea typeface="Heebo" pitchFamily="34" charset="-122"/>
                <a:cs typeface="Heebo" pitchFamily="34" charset="-120"/>
              </a:rPr>
              <a:t>To streamline result management processes for faster outcomes.</a:t>
            </a:r>
            <a:endParaRPr lang="en-US" sz="1604" dirty="0"/>
          </a:p>
        </p:txBody>
      </p:sp>
      <p:pic>
        <p:nvPicPr>
          <p:cNvPr id="9" name="Image 3" descr="preencoded.png"/>
          <p:cNvPicPr>
            <a:picLocks noChangeAspect="1"/>
          </p:cNvPicPr>
          <p:nvPr/>
        </p:nvPicPr>
        <p:blipFill>
          <a:blip r:embed="rId6"/>
          <a:stretch>
            <a:fillRect/>
          </a:stretch>
        </p:blipFill>
        <p:spPr>
          <a:xfrm>
            <a:off x="4421505" y="3768328"/>
            <a:ext cx="1018461" cy="1629608"/>
          </a:xfrm>
          <a:prstGeom prst="rect">
            <a:avLst/>
          </a:prstGeom>
        </p:spPr>
      </p:pic>
      <p:sp>
        <p:nvSpPr>
          <p:cNvPr id="10" name="Text 4"/>
          <p:cNvSpPr/>
          <p:nvPr/>
        </p:nvSpPr>
        <p:spPr>
          <a:xfrm>
            <a:off x="5745480" y="3971925"/>
            <a:ext cx="2546390" cy="318254"/>
          </a:xfrm>
          <a:prstGeom prst="rect">
            <a:avLst/>
          </a:prstGeom>
          <a:noFill/>
          <a:ln/>
        </p:spPr>
        <p:txBody>
          <a:bodyPr wrap="none" rtlCol="0" anchor="t"/>
          <a:lstStyle/>
          <a:p>
            <a:pPr marL="0" indent="0" algn="l">
              <a:lnSpc>
                <a:spcPts val="2506"/>
              </a:lnSpc>
              <a:buNone/>
            </a:pPr>
            <a:r>
              <a:rPr lang="en-US" sz="2005" dirty="0">
                <a:solidFill>
                  <a:srgbClr val="DCD7E5"/>
                </a:solidFill>
                <a:latin typeface="Montserrat" pitchFamily="34" charset="0"/>
                <a:ea typeface="Montserrat" pitchFamily="34" charset="-122"/>
                <a:cs typeface="Montserrat" pitchFamily="34" charset="-120"/>
              </a:rPr>
              <a:t>Transparency</a:t>
            </a:r>
            <a:endParaRPr lang="en-US" sz="2005" dirty="0"/>
          </a:p>
        </p:txBody>
      </p:sp>
      <p:sp>
        <p:nvSpPr>
          <p:cNvPr id="11" name="Text 5"/>
          <p:cNvSpPr/>
          <p:nvPr/>
        </p:nvSpPr>
        <p:spPr>
          <a:xfrm>
            <a:off x="5745480" y="4412337"/>
            <a:ext cx="8121015" cy="325874"/>
          </a:xfrm>
          <a:prstGeom prst="rect">
            <a:avLst/>
          </a:prstGeom>
          <a:noFill/>
          <a:ln/>
        </p:spPr>
        <p:txBody>
          <a:bodyPr wrap="none" rtlCol="0" anchor="t"/>
          <a:lstStyle/>
          <a:p>
            <a:pPr marL="0" indent="0" algn="l">
              <a:lnSpc>
                <a:spcPts val="2566"/>
              </a:lnSpc>
              <a:buNone/>
            </a:pPr>
            <a:r>
              <a:rPr lang="en-US" sz="1604" dirty="0">
                <a:solidFill>
                  <a:srgbClr val="DCD7E5"/>
                </a:solidFill>
                <a:latin typeface="Heebo" pitchFamily="34" charset="0"/>
                <a:ea typeface="Heebo" pitchFamily="34" charset="-122"/>
                <a:cs typeface="Heebo" pitchFamily="34" charset="-120"/>
              </a:rPr>
              <a:t>To ensure transparency in grading and result distribution.</a:t>
            </a:r>
            <a:endParaRPr lang="en-US" sz="1604" dirty="0"/>
          </a:p>
        </p:txBody>
      </p:sp>
      <p:pic>
        <p:nvPicPr>
          <p:cNvPr id="12" name="Image 4" descr="preencoded.png"/>
          <p:cNvPicPr>
            <a:picLocks noChangeAspect="1"/>
          </p:cNvPicPr>
          <p:nvPr/>
        </p:nvPicPr>
        <p:blipFill>
          <a:blip r:embed="rId7"/>
          <a:stretch>
            <a:fillRect/>
          </a:stretch>
        </p:blipFill>
        <p:spPr>
          <a:xfrm>
            <a:off x="4421505" y="5397937"/>
            <a:ext cx="1018461" cy="2273260"/>
          </a:xfrm>
          <a:prstGeom prst="rect">
            <a:avLst/>
          </a:prstGeom>
        </p:spPr>
      </p:pic>
      <p:sp>
        <p:nvSpPr>
          <p:cNvPr id="13" name="Text 6"/>
          <p:cNvSpPr/>
          <p:nvPr/>
        </p:nvSpPr>
        <p:spPr>
          <a:xfrm>
            <a:off x="5745480" y="5601533"/>
            <a:ext cx="2546390" cy="318254"/>
          </a:xfrm>
          <a:prstGeom prst="rect">
            <a:avLst/>
          </a:prstGeom>
          <a:noFill/>
          <a:ln/>
        </p:spPr>
        <p:txBody>
          <a:bodyPr wrap="none" rtlCol="0" anchor="t"/>
          <a:lstStyle/>
          <a:p>
            <a:pPr marL="0" indent="0" algn="l">
              <a:lnSpc>
                <a:spcPts val="2506"/>
              </a:lnSpc>
              <a:buNone/>
            </a:pPr>
            <a:r>
              <a:rPr lang="en-US" sz="2005" dirty="0">
                <a:solidFill>
                  <a:srgbClr val="DCD7E5"/>
                </a:solidFill>
                <a:latin typeface="Montserrat" pitchFamily="34" charset="0"/>
                <a:ea typeface="Montserrat" pitchFamily="34" charset="-122"/>
                <a:cs typeface="Montserrat" pitchFamily="34" charset="-120"/>
              </a:rPr>
              <a:t>Customization</a:t>
            </a:r>
            <a:endParaRPr lang="en-US" sz="2005" dirty="0"/>
          </a:p>
        </p:txBody>
      </p:sp>
      <p:sp>
        <p:nvSpPr>
          <p:cNvPr id="14" name="Text 7"/>
          <p:cNvSpPr/>
          <p:nvPr/>
        </p:nvSpPr>
        <p:spPr>
          <a:xfrm>
            <a:off x="5745480" y="6041946"/>
            <a:ext cx="8121015" cy="977622"/>
          </a:xfrm>
          <a:prstGeom prst="rect">
            <a:avLst/>
          </a:prstGeom>
          <a:noFill/>
          <a:ln/>
        </p:spPr>
        <p:txBody>
          <a:bodyPr wrap="square" rtlCol="0" anchor="t"/>
          <a:lstStyle/>
          <a:p>
            <a:pPr marL="0" indent="0" algn="l">
              <a:lnSpc>
                <a:spcPts val="2566"/>
              </a:lnSpc>
              <a:buNone/>
            </a:pPr>
            <a:r>
              <a:rPr lang="en-US" sz="1604" dirty="0">
                <a:solidFill>
                  <a:srgbClr val="DCD7E5"/>
                </a:solidFill>
                <a:latin typeface="Heebo" pitchFamily="34" charset="0"/>
                <a:ea typeface="Heebo" pitchFamily="34" charset="-122"/>
                <a:cs typeface="Heebo" pitchFamily="34" charset="-120"/>
              </a:rPr>
              <a:t> Offering flexibility to adapt to the specific needs and requirements of different educational institutions, including support for various grading systems, exam formats, and reporting formats.</a:t>
            </a:r>
            <a:endParaRPr lang="en-US" sz="1604" dirty="0"/>
          </a:p>
        </p:txBody>
      </p:sp>
      <p:sp>
        <p:nvSpPr>
          <p:cNvPr id="15" name="Text 8"/>
          <p:cNvSpPr/>
          <p:nvPr/>
        </p:nvSpPr>
        <p:spPr>
          <a:xfrm>
            <a:off x="5745480" y="7141726"/>
            <a:ext cx="8121015" cy="325874"/>
          </a:xfrm>
          <a:prstGeom prst="rect">
            <a:avLst/>
          </a:prstGeom>
          <a:noFill/>
          <a:ln/>
        </p:spPr>
        <p:txBody>
          <a:bodyPr wrap="none" rtlCol="0" anchor="t"/>
          <a:lstStyle/>
          <a:p>
            <a:pPr marL="0" indent="0" algn="l">
              <a:lnSpc>
                <a:spcPts val="2566"/>
              </a:lnSpc>
              <a:buNone/>
            </a:pPr>
            <a:endParaRPr lang="en-US" sz="160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sp>
      <p:sp>
        <p:nvSpPr>
          <p:cNvPr id="4" name="Text 1"/>
          <p:cNvSpPr/>
          <p:nvPr/>
        </p:nvSpPr>
        <p:spPr>
          <a:xfrm>
            <a:off x="2037993" y="1403033"/>
            <a:ext cx="9356169" cy="694373"/>
          </a:xfrm>
          <a:prstGeom prst="rect">
            <a:avLst/>
          </a:prstGeom>
          <a:noFill/>
          <a:ln/>
        </p:spPr>
        <p:txBody>
          <a:bodyPr wrap="none" rtlCol="0" anchor="t"/>
          <a:lstStyle/>
          <a:p>
            <a:pPr marL="0" indent="0">
              <a:lnSpc>
                <a:spcPts val="5468"/>
              </a:lnSpc>
              <a:buNone/>
            </a:pPr>
            <a:r>
              <a:rPr lang="en-US" sz="4374" dirty="0">
                <a:solidFill>
                  <a:srgbClr val="F2F0F4"/>
                </a:solidFill>
                <a:latin typeface="Montserrat" pitchFamily="34" charset="0"/>
                <a:ea typeface="Montserrat" pitchFamily="34" charset="-122"/>
                <a:cs typeface="Montserrat" pitchFamily="34" charset="-120"/>
              </a:rPr>
              <a:t>Future Scope and Enhancements</a:t>
            </a:r>
            <a:endParaRPr lang="en-US" sz="4374" dirty="0"/>
          </a:p>
        </p:txBody>
      </p:sp>
      <p:sp>
        <p:nvSpPr>
          <p:cNvPr id="5" name="Shape 2"/>
          <p:cNvSpPr/>
          <p:nvPr/>
        </p:nvSpPr>
        <p:spPr>
          <a:xfrm>
            <a:off x="2349103" y="2541746"/>
            <a:ext cx="44410" cy="4284821"/>
          </a:xfrm>
          <a:prstGeom prst="roundRect">
            <a:avLst>
              <a:gd name="adj" fmla="val 225151"/>
            </a:avLst>
          </a:prstGeom>
          <a:solidFill>
            <a:srgbClr val="552C86"/>
          </a:solidFill>
          <a:ln/>
        </p:spPr>
      </p:sp>
      <p:sp>
        <p:nvSpPr>
          <p:cNvPr id="6" name="Shape 3"/>
          <p:cNvSpPr/>
          <p:nvPr/>
        </p:nvSpPr>
        <p:spPr>
          <a:xfrm>
            <a:off x="2621220" y="2943046"/>
            <a:ext cx="777597" cy="44410"/>
          </a:xfrm>
          <a:prstGeom prst="roundRect">
            <a:avLst>
              <a:gd name="adj" fmla="val 225151"/>
            </a:avLst>
          </a:prstGeom>
          <a:solidFill>
            <a:srgbClr val="552C86"/>
          </a:solidFill>
          <a:ln/>
        </p:spPr>
      </p:sp>
      <p:sp>
        <p:nvSpPr>
          <p:cNvPr id="7" name="Shape 4"/>
          <p:cNvSpPr/>
          <p:nvPr/>
        </p:nvSpPr>
        <p:spPr>
          <a:xfrm>
            <a:off x="2121277" y="2715339"/>
            <a:ext cx="499943" cy="499943"/>
          </a:xfrm>
          <a:prstGeom prst="roundRect">
            <a:avLst>
              <a:gd name="adj" fmla="val 20000"/>
            </a:avLst>
          </a:prstGeom>
          <a:solidFill>
            <a:srgbClr val="3C136D"/>
          </a:solidFill>
          <a:ln w="7620">
            <a:solidFill>
              <a:srgbClr val="552C86"/>
            </a:solidFill>
            <a:prstDash val="solid"/>
          </a:ln>
        </p:spPr>
      </p:sp>
      <p:sp>
        <p:nvSpPr>
          <p:cNvPr id="8" name="Text 5"/>
          <p:cNvSpPr/>
          <p:nvPr/>
        </p:nvSpPr>
        <p:spPr>
          <a:xfrm>
            <a:off x="2311063" y="2757011"/>
            <a:ext cx="120372" cy="416481"/>
          </a:xfrm>
          <a:prstGeom prst="rect">
            <a:avLst/>
          </a:prstGeom>
          <a:noFill/>
          <a:ln/>
        </p:spPr>
        <p:txBody>
          <a:bodyPr wrap="none" rtlCol="0" anchor="t"/>
          <a:lstStyle/>
          <a:p>
            <a:pPr marL="0" indent="0" algn="ctr">
              <a:lnSpc>
                <a:spcPts val="3281"/>
              </a:lnSpc>
              <a:buNone/>
            </a:pPr>
            <a:r>
              <a:rPr lang="en-US" sz="2624" dirty="0">
                <a:solidFill>
                  <a:srgbClr val="DCD7E5"/>
                </a:solidFill>
                <a:latin typeface="Montserrat" pitchFamily="34" charset="0"/>
                <a:ea typeface="Montserrat" pitchFamily="34" charset="-122"/>
                <a:cs typeface="Montserrat" pitchFamily="34" charset="-120"/>
              </a:rPr>
              <a:t>1</a:t>
            </a:r>
            <a:endParaRPr lang="en-US" sz="2624" dirty="0"/>
          </a:p>
        </p:txBody>
      </p:sp>
      <p:sp>
        <p:nvSpPr>
          <p:cNvPr id="9" name="Text 6"/>
          <p:cNvSpPr/>
          <p:nvPr/>
        </p:nvSpPr>
        <p:spPr>
          <a:xfrm>
            <a:off x="3593306" y="2763917"/>
            <a:ext cx="2777490" cy="347186"/>
          </a:xfrm>
          <a:prstGeom prst="rect">
            <a:avLst/>
          </a:prstGeom>
          <a:noFill/>
          <a:ln/>
        </p:spPr>
        <p:txBody>
          <a:bodyPr wrap="none" rtlCol="0" anchor="t"/>
          <a:lstStyle/>
          <a:p>
            <a:pPr marL="0" indent="0" algn="l">
              <a:lnSpc>
                <a:spcPts val="2734"/>
              </a:lnSpc>
              <a:buNone/>
            </a:pPr>
            <a:r>
              <a:rPr lang="en-US" sz="2187" dirty="0">
                <a:solidFill>
                  <a:srgbClr val="DCD7E5"/>
                </a:solidFill>
                <a:latin typeface="Montserrat" pitchFamily="34" charset="0"/>
                <a:ea typeface="Montserrat" pitchFamily="34" charset="-122"/>
                <a:cs typeface="Montserrat" pitchFamily="34" charset="-120"/>
              </a:rPr>
              <a:t>AI Integration</a:t>
            </a:r>
            <a:endParaRPr lang="en-US" sz="2187" dirty="0"/>
          </a:p>
        </p:txBody>
      </p:sp>
      <p:sp>
        <p:nvSpPr>
          <p:cNvPr id="10" name="Text 7"/>
          <p:cNvSpPr/>
          <p:nvPr/>
        </p:nvSpPr>
        <p:spPr>
          <a:xfrm>
            <a:off x="3593306" y="3244334"/>
            <a:ext cx="8999101" cy="355402"/>
          </a:xfrm>
          <a:prstGeom prst="rect">
            <a:avLst/>
          </a:prstGeom>
          <a:noFill/>
          <a:ln/>
        </p:spPr>
        <p:txBody>
          <a:bodyPr wrap="none" rtlCol="0" anchor="t"/>
          <a:lstStyle/>
          <a:p>
            <a:pPr marL="0" indent="0" algn="l">
              <a:lnSpc>
                <a:spcPts val="2799"/>
              </a:lnSpc>
              <a:buNone/>
            </a:pPr>
            <a:r>
              <a:rPr lang="en-US" sz="1750" dirty="0">
                <a:solidFill>
                  <a:srgbClr val="DCD7E5"/>
                </a:solidFill>
                <a:latin typeface="Heebo" pitchFamily="34" charset="0"/>
                <a:ea typeface="Heebo" pitchFamily="34" charset="-122"/>
                <a:cs typeface="Heebo" pitchFamily="34" charset="-120"/>
              </a:rPr>
              <a:t>Future integration of AI for predictive analysis and personalized feedback.</a:t>
            </a:r>
            <a:endParaRPr lang="en-US" sz="1750" dirty="0"/>
          </a:p>
        </p:txBody>
      </p:sp>
      <p:sp>
        <p:nvSpPr>
          <p:cNvPr id="11" name="Shape 8"/>
          <p:cNvSpPr/>
          <p:nvPr/>
        </p:nvSpPr>
        <p:spPr>
          <a:xfrm>
            <a:off x="2621220" y="4445377"/>
            <a:ext cx="777597" cy="44410"/>
          </a:xfrm>
          <a:prstGeom prst="roundRect">
            <a:avLst>
              <a:gd name="adj" fmla="val 225151"/>
            </a:avLst>
          </a:prstGeom>
          <a:solidFill>
            <a:srgbClr val="552C86"/>
          </a:solidFill>
          <a:ln/>
        </p:spPr>
      </p:sp>
      <p:sp>
        <p:nvSpPr>
          <p:cNvPr id="12" name="Shape 9"/>
          <p:cNvSpPr/>
          <p:nvPr/>
        </p:nvSpPr>
        <p:spPr>
          <a:xfrm>
            <a:off x="2121277" y="4217670"/>
            <a:ext cx="499943" cy="499943"/>
          </a:xfrm>
          <a:prstGeom prst="roundRect">
            <a:avLst>
              <a:gd name="adj" fmla="val 20000"/>
            </a:avLst>
          </a:prstGeom>
          <a:solidFill>
            <a:srgbClr val="3C136D"/>
          </a:solidFill>
          <a:ln w="7620">
            <a:solidFill>
              <a:srgbClr val="552C86"/>
            </a:solidFill>
            <a:prstDash val="solid"/>
          </a:ln>
        </p:spPr>
      </p:sp>
      <p:sp>
        <p:nvSpPr>
          <p:cNvPr id="13" name="Text 10"/>
          <p:cNvSpPr/>
          <p:nvPr/>
        </p:nvSpPr>
        <p:spPr>
          <a:xfrm>
            <a:off x="2276535" y="4259342"/>
            <a:ext cx="189309" cy="416481"/>
          </a:xfrm>
          <a:prstGeom prst="rect">
            <a:avLst/>
          </a:prstGeom>
          <a:noFill/>
          <a:ln/>
        </p:spPr>
        <p:txBody>
          <a:bodyPr wrap="none" rtlCol="0" anchor="t"/>
          <a:lstStyle/>
          <a:p>
            <a:pPr marL="0" indent="0" algn="ctr">
              <a:lnSpc>
                <a:spcPts val="3281"/>
              </a:lnSpc>
              <a:buNone/>
            </a:pPr>
            <a:r>
              <a:rPr lang="en-US" sz="2624" dirty="0">
                <a:solidFill>
                  <a:srgbClr val="DCD7E5"/>
                </a:solidFill>
                <a:latin typeface="Montserrat" pitchFamily="34" charset="0"/>
                <a:ea typeface="Montserrat" pitchFamily="34" charset="-122"/>
                <a:cs typeface="Montserrat" pitchFamily="34" charset="-120"/>
              </a:rPr>
              <a:t>2</a:t>
            </a:r>
            <a:endParaRPr lang="en-US" sz="2624" dirty="0"/>
          </a:p>
        </p:txBody>
      </p:sp>
      <p:sp>
        <p:nvSpPr>
          <p:cNvPr id="14" name="Text 11"/>
          <p:cNvSpPr/>
          <p:nvPr/>
        </p:nvSpPr>
        <p:spPr>
          <a:xfrm>
            <a:off x="3593306" y="4266248"/>
            <a:ext cx="3363278" cy="347186"/>
          </a:xfrm>
          <a:prstGeom prst="rect">
            <a:avLst/>
          </a:prstGeom>
          <a:noFill/>
          <a:ln/>
        </p:spPr>
        <p:txBody>
          <a:bodyPr wrap="none" rtlCol="0" anchor="t"/>
          <a:lstStyle/>
          <a:p>
            <a:pPr marL="0" indent="0" algn="l">
              <a:lnSpc>
                <a:spcPts val="2734"/>
              </a:lnSpc>
              <a:buNone/>
            </a:pPr>
            <a:r>
              <a:rPr lang="en-US" sz="2187" dirty="0">
                <a:solidFill>
                  <a:srgbClr val="DCD7E5"/>
                </a:solidFill>
                <a:latin typeface="Montserrat" pitchFamily="34" charset="0"/>
                <a:ea typeface="Montserrat" pitchFamily="34" charset="-122"/>
                <a:cs typeface="Montserrat" pitchFamily="34" charset="-120"/>
              </a:rPr>
              <a:t>Enhanced Data Security</a:t>
            </a:r>
            <a:endParaRPr lang="en-US" sz="2187" dirty="0"/>
          </a:p>
        </p:txBody>
      </p:sp>
      <p:sp>
        <p:nvSpPr>
          <p:cNvPr id="15" name="Text 12"/>
          <p:cNvSpPr/>
          <p:nvPr/>
        </p:nvSpPr>
        <p:spPr>
          <a:xfrm>
            <a:off x="3593306" y="4746665"/>
            <a:ext cx="8999101" cy="355402"/>
          </a:xfrm>
          <a:prstGeom prst="rect">
            <a:avLst/>
          </a:prstGeom>
          <a:noFill/>
          <a:ln/>
        </p:spPr>
        <p:txBody>
          <a:bodyPr wrap="none" rtlCol="0" anchor="t"/>
          <a:lstStyle/>
          <a:p>
            <a:pPr marL="0" indent="0" algn="l">
              <a:lnSpc>
                <a:spcPts val="2799"/>
              </a:lnSpc>
              <a:buNone/>
            </a:pPr>
            <a:r>
              <a:rPr lang="en-US" sz="1750" dirty="0">
                <a:solidFill>
                  <a:srgbClr val="DCD7E5"/>
                </a:solidFill>
                <a:latin typeface="Heebo" pitchFamily="34" charset="0"/>
                <a:ea typeface="Heebo" pitchFamily="34" charset="-122"/>
                <a:cs typeface="Heebo" pitchFamily="34" charset="-120"/>
              </a:rPr>
              <a:t>Improving security measures to protect student data and privacy.</a:t>
            </a:r>
            <a:endParaRPr lang="en-US" sz="1750" dirty="0"/>
          </a:p>
        </p:txBody>
      </p:sp>
      <p:sp>
        <p:nvSpPr>
          <p:cNvPr id="16" name="Shape 13"/>
          <p:cNvSpPr/>
          <p:nvPr/>
        </p:nvSpPr>
        <p:spPr>
          <a:xfrm>
            <a:off x="2621220" y="5947708"/>
            <a:ext cx="777597" cy="44410"/>
          </a:xfrm>
          <a:prstGeom prst="roundRect">
            <a:avLst>
              <a:gd name="adj" fmla="val 225151"/>
            </a:avLst>
          </a:prstGeom>
          <a:solidFill>
            <a:srgbClr val="552C86"/>
          </a:solidFill>
          <a:ln/>
        </p:spPr>
      </p:sp>
      <p:sp>
        <p:nvSpPr>
          <p:cNvPr id="17" name="Shape 14"/>
          <p:cNvSpPr/>
          <p:nvPr/>
        </p:nvSpPr>
        <p:spPr>
          <a:xfrm>
            <a:off x="2121277" y="5720001"/>
            <a:ext cx="499943" cy="499943"/>
          </a:xfrm>
          <a:prstGeom prst="roundRect">
            <a:avLst>
              <a:gd name="adj" fmla="val 20000"/>
            </a:avLst>
          </a:prstGeom>
          <a:solidFill>
            <a:srgbClr val="3C136D"/>
          </a:solidFill>
          <a:ln w="7620">
            <a:solidFill>
              <a:srgbClr val="552C86"/>
            </a:solidFill>
            <a:prstDash val="solid"/>
          </a:ln>
        </p:spPr>
      </p:sp>
      <p:sp>
        <p:nvSpPr>
          <p:cNvPr id="18" name="Text 15"/>
          <p:cNvSpPr/>
          <p:nvPr/>
        </p:nvSpPr>
        <p:spPr>
          <a:xfrm>
            <a:off x="2277249" y="5761673"/>
            <a:ext cx="188000" cy="416481"/>
          </a:xfrm>
          <a:prstGeom prst="rect">
            <a:avLst/>
          </a:prstGeom>
          <a:noFill/>
          <a:ln/>
        </p:spPr>
        <p:txBody>
          <a:bodyPr wrap="none" rtlCol="0" anchor="t"/>
          <a:lstStyle/>
          <a:p>
            <a:pPr marL="0" indent="0" algn="ctr">
              <a:lnSpc>
                <a:spcPts val="3281"/>
              </a:lnSpc>
              <a:buNone/>
            </a:pPr>
            <a:r>
              <a:rPr lang="en-US" sz="2624" dirty="0">
                <a:solidFill>
                  <a:srgbClr val="DCD7E5"/>
                </a:solidFill>
                <a:latin typeface="Montserrat" pitchFamily="34" charset="0"/>
                <a:ea typeface="Montserrat" pitchFamily="34" charset="-122"/>
                <a:cs typeface="Montserrat" pitchFamily="34" charset="-120"/>
              </a:rPr>
              <a:t>3</a:t>
            </a:r>
            <a:endParaRPr lang="en-US" sz="2624" dirty="0"/>
          </a:p>
        </p:txBody>
      </p:sp>
      <p:sp>
        <p:nvSpPr>
          <p:cNvPr id="19" name="Text 16"/>
          <p:cNvSpPr/>
          <p:nvPr/>
        </p:nvSpPr>
        <p:spPr>
          <a:xfrm>
            <a:off x="3593306" y="5768578"/>
            <a:ext cx="2777490" cy="347186"/>
          </a:xfrm>
          <a:prstGeom prst="rect">
            <a:avLst/>
          </a:prstGeom>
          <a:noFill/>
          <a:ln/>
        </p:spPr>
        <p:txBody>
          <a:bodyPr wrap="none" rtlCol="0" anchor="t"/>
          <a:lstStyle/>
          <a:p>
            <a:pPr marL="0" indent="0" algn="l">
              <a:lnSpc>
                <a:spcPts val="2734"/>
              </a:lnSpc>
              <a:buNone/>
            </a:pPr>
            <a:r>
              <a:rPr lang="en-US" sz="2187" dirty="0">
                <a:solidFill>
                  <a:srgbClr val="DCD7E5"/>
                </a:solidFill>
                <a:latin typeface="Montserrat" pitchFamily="34" charset="0"/>
                <a:ea typeface="Montserrat" pitchFamily="34" charset="-122"/>
                <a:cs typeface="Montserrat" pitchFamily="34" charset="-120"/>
              </a:rPr>
              <a:t>Mobile Accessibility</a:t>
            </a:r>
            <a:endParaRPr lang="en-US" sz="2187" dirty="0"/>
          </a:p>
        </p:txBody>
      </p:sp>
      <p:sp>
        <p:nvSpPr>
          <p:cNvPr id="20" name="Text 17"/>
          <p:cNvSpPr/>
          <p:nvPr/>
        </p:nvSpPr>
        <p:spPr>
          <a:xfrm>
            <a:off x="3593306" y="6248995"/>
            <a:ext cx="8999101" cy="355402"/>
          </a:xfrm>
          <a:prstGeom prst="rect">
            <a:avLst/>
          </a:prstGeom>
          <a:noFill/>
          <a:ln/>
        </p:spPr>
        <p:txBody>
          <a:bodyPr wrap="none" rtlCol="0" anchor="t"/>
          <a:lstStyle/>
          <a:p>
            <a:pPr marL="0" indent="0" algn="l">
              <a:lnSpc>
                <a:spcPts val="2799"/>
              </a:lnSpc>
              <a:buNone/>
            </a:pPr>
            <a:r>
              <a:rPr lang="en-US" sz="1750" dirty="0">
                <a:solidFill>
                  <a:srgbClr val="DCD7E5"/>
                </a:solidFill>
                <a:latin typeface="Heebo" pitchFamily="34" charset="0"/>
                <a:ea typeface="Heebo" pitchFamily="34" charset="-122"/>
                <a:cs typeface="Heebo" pitchFamily="34" charset="-120"/>
              </a:rPr>
              <a:t>Development of mobile apps for easier access to academic results.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sp>
      <p:pic>
        <p:nvPicPr>
          <p:cNvPr id="4" name="Image 1" descr="preencoded.png"/>
          <p:cNvPicPr>
            <a:picLocks noChangeAspect="1"/>
          </p:cNvPicPr>
          <p:nvPr/>
        </p:nvPicPr>
        <p:blipFill>
          <a:blip r:embed="rId4"/>
          <a:stretch>
            <a:fillRect/>
          </a:stretch>
        </p:blipFill>
        <p:spPr>
          <a:xfrm>
            <a:off x="0" y="0"/>
            <a:ext cx="14630400" cy="8229600"/>
          </a:xfrm>
          <a:prstGeom prst="rect">
            <a:avLst/>
          </a:prstGeom>
        </p:spPr>
      </p:pic>
      <p:sp>
        <p:nvSpPr>
          <p:cNvPr id="5" name="Shape 1"/>
          <p:cNvSpPr/>
          <p:nvPr/>
        </p:nvSpPr>
        <p:spPr>
          <a:xfrm>
            <a:off x="0" y="0"/>
            <a:ext cx="14630400" cy="8229600"/>
          </a:xfrm>
          <a:prstGeom prst="rect">
            <a:avLst/>
          </a:prstGeom>
          <a:solidFill>
            <a:srgbClr val="0D0A2C">
              <a:alpha val="80000"/>
            </a:srgbClr>
          </a:solidFill>
          <a:ln/>
        </p:spPr>
      </p:sp>
      <p:sp>
        <p:nvSpPr>
          <p:cNvPr id="6" name="Text 2"/>
          <p:cNvSpPr/>
          <p:nvPr/>
        </p:nvSpPr>
        <p:spPr>
          <a:xfrm>
            <a:off x="2037993" y="1721644"/>
            <a:ext cx="10554414" cy="1388745"/>
          </a:xfrm>
          <a:prstGeom prst="rect">
            <a:avLst/>
          </a:prstGeom>
          <a:noFill/>
          <a:ln/>
        </p:spPr>
        <p:txBody>
          <a:bodyPr wrap="square" rtlCol="0" anchor="t"/>
          <a:lstStyle/>
          <a:p>
            <a:pPr marL="0" indent="0">
              <a:lnSpc>
                <a:spcPts val="5468"/>
              </a:lnSpc>
              <a:buNone/>
            </a:pPr>
            <a:r>
              <a:rPr lang="en-US" sz="4374" dirty="0">
                <a:solidFill>
                  <a:srgbClr val="F2F0F4"/>
                </a:solidFill>
                <a:latin typeface="Montserrat" pitchFamily="34" charset="0"/>
                <a:ea typeface="Montserrat" pitchFamily="34" charset="-122"/>
                <a:cs typeface="Montserrat" pitchFamily="34" charset="-120"/>
              </a:rPr>
              <a:t>Benefits of Using the Student Result Management System</a:t>
            </a:r>
            <a:endParaRPr lang="en-US" sz="4374" dirty="0"/>
          </a:p>
        </p:txBody>
      </p:sp>
      <p:sp>
        <p:nvSpPr>
          <p:cNvPr id="7" name="Shape 3"/>
          <p:cNvSpPr/>
          <p:nvPr/>
        </p:nvSpPr>
        <p:spPr>
          <a:xfrm>
            <a:off x="2037993" y="3443645"/>
            <a:ext cx="3370064" cy="3064193"/>
          </a:xfrm>
          <a:prstGeom prst="roundRect">
            <a:avLst>
              <a:gd name="adj" fmla="val 3263"/>
            </a:avLst>
          </a:prstGeom>
          <a:solidFill>
            <a:srgbClr val="3C136D"/>
          </a:solidFill>
          <a:ln w="7620">
            <a:solidFill>
              <a:srgbClr val="552C86"/>
            </a:solidFill>
            <a:prstDash val="solid"/>
          </a:ln>
        </p:spPr>
      </p:sp>
      <p:sp>
        <p:nvSpPr>
          <p:cNvPr id="8" name="Text 4"/>
          <p:cNvSpPr/>
          <p:nvPr/>
        </p:nvSpPr>
        <p:spPr>
          <a:xfrm>
            <a:off x="2267783" y="3673435"/>
            <a:ext cx="2777490" cy="347186"/>
          </a:xfrm>
          <a:prstGeom prst="rect">
            <a:avLst/>
          </a:prstGeom>
          <a:noFill/>
          <a:ln/>
        </p:spPr>
        <p:txBody>
          <a:bodyPr wrap="none" rtlCol="0" anchor="t"/>
          <a:lstStyle/>
          <a:p>
            <a:pPr marL="0" indent="0">
              <a:lnSpc>
                <a:spcPts val="2734"/>
              </a:lnSpc>
              <a:buNone/>
            </a:pPr>
            <a:r>
              <a:rPr lang="en-US" sz="2187" dirty="0">
                <a:solidFill>
                  <a:srgbClr val="DCD7E5"/>
                </a:solidFill>
                <a:latin typeface="Montserrat" pitchFamily="34" charset="0"/>
                <a:ea typeface="Montserrat" pitchFamily="34" charset="-122"/>
                <a:cs typeface="Montserrat" pitchFamily="34" charset="-120"/>
              </a:rPr>
              <a:t>Efficiency</a:t>
            </a:r>
            <a:endParaRPr lang="en-US" sz="2187" dirty="0"/>
          </a:p>
        </p:txBody>
      </p:sp>
      <p:sp>
        <p:nvSpPr>
          <p:cNvPr id="9" name="Text 5"/>
          <p:cNvSpPr/>
          <p:nvPr/>
        </p:nvSpPr>
        <p:spPr>
          <a:xfrm>
            <a:off x="2267783" y="4153853"/>
            <a:ext cx="2910483" cy="1421606"/>
          </a:xfrm>
          <a:prstGeom prst="rect">
            <a:avLst/>
          </a:prstGeom>
          <a:noFill/>
          <a:ln/>
        </p:spPr>
        <p:txBody>
          <a:bodyPr wrap="square" rtlCol="0" anchor="t"/>
          <a:lstStyle/>
          <a:p>
            <a:pPr marL="0" indent="0">
              <a:lnSpc>
                <a:spcPts val="2799"/>
              </a:lnSpc>
              <a:buNone/>
            </a:pPr>
            <a:r>
              <a:rPr lang="en-US" sz="1750" dirty="0">
                <a:solidFill>
                  <a:srgbClr val="DCD7E5"/>
                </a:solidFill>
                <a:latin typeface="Heebo" pitchFamily="34" charset="0"/>
                <a:ea typeface="Heebo" pitchFamily="34" charset="-122"/>
                <a:cs typeface="Heebo" pitchFamily="34" charset="-120"/>
              </a:rPr>
              <a:t>Streamlines the result tracking and announcement process for educational institutions.</a:t>
            </a:r>
            <a:endParaRPr lang="en-US" sz="1750" dirty="0"/>
          </a:p>
        </p:txBody>
      </p:sp>
      <p:sp>
        <p:nvSpPr>
          <p:cNvPr id="10" name="Shape 6"/>
          <p:cNvSpPr/>
          <p:nvPr/>
        </p:nvSpPr>
        <p:spPr>
          <a:xfrm>
            <a:off x="5630228" y="3443645"/>
            <a:ext cx="3370064" cy="3064193"/>
          </a:xfrm>
          <a:prstGeom prst="roundRect">
            <a:avLst>
              <a:gd name="adj" fmla="val 3263"/>
            </a:avLst>
          </a:prstGeom>
          <a:solidFill>
            <a:srgbClr val="3C136D"/>
          </a:solidFill>
          <a:ln w="7620">
            <a:solidFill>
              <a:srgbClr val="552C86"/>
            </a:solidFill>
            <a:prstDash val="solid"/>
          </a:ln>
        </p:spPr>
      </p:sp>
      <p:sp>
        <p:nvSpPr>
          <p:cNvPr id="11" name="Text 7"/>
          <p:cNvSpPr/>
          <p:nvPr/>
        </p:nvSpPr>
        <p:spPr>
          <a:xfrm>
            <a:off x="5860018" y="3673435"/>
            <a:ext cx="2777490" cy="347186"/>
          </a:xfrm>
          <a:prstGeom prst="rect">
            <a:avLst/>
          </a:prstGeom>
          <a:noFill/>
          <a:ln/>
        </p:spPr>
        <p:txBody>
          <a:bodyPr wrap="none" rtlCol="0" anchor="t"/>
          <a:lstStyle/>
          <a:p>
            <a:pPr marL="0" indent="0">
              <a:lnSpc>
                <a:spcPts val="2734"/>
              </a:lnSpc>
              <a:buNone/>
            </a:pPr>
            <a:r>
              <a:rPr lang="en-US" sz="2187" dirty="0">
                <a:solidFill>
                  <a:srgbClr val="DCD7E5"/>
                </a:solidFill>
                <a:latin typeface="Montserrat" pitchFamily="34" charset="0"/>
                <a:ea typeface="Montserrat" pitchFamily="34" charset="-122"/>
                <a:cs typeface="Montserrat" pitchFamily="34" charset="-120"/>
              </a:rPr>
              <a:t>Data Accuracy</a:t>
            </a:r>
            <a:endParaRPr lang="en-US" sz="2187" dirty="0"/>
          </a:p>
        </p:txBody>
      </p:sp>
      <p:sp>
        <p:nvSpPr>
          <p:cNvPr id="12" name="Text 8"/>
          <p:cNvSpPr/>
          <p:nvPr/>
        </p:nvSpPr>
        <p:spPr>
          <a:xfrm>
            <a:off x="5860018" y="4153853"/>
            <a:ext cx="2910483" cy="1066205"/>
          </a:xfrm>
          <a:prstGeom prst="rect">
            <a:avLst/>
          </a:prstGeom>
          <a:noFill/>
          <a:ln/>
        </p:spPr>
        <p:txBody>
          <a:bodyPr wrap="square" rtlCol="0" anchor="t"/>
          <a:lstStyle/>
          <a:p>
            <a:pPr marL="0" indent="0">
              <a:lnSpc>
                <a:spcPts val="2799"/>
              </a:lnSpc>
              <a:buNone/>
            </a:pPr>
            <a:r>
              <a:rPr lang="en-US" sz="1750" dirty="0">
                <a:solidFill>
                  <a:srgbClr val="DCD7E5"/>
                </a:solidFill>
                <a:latin typeface="Heebo" pitchFamily="34" charset="0"/>
                <a:ea typeface="Heebo" pitchFamily="34" charset="-122"/>
                <a:cs typeface="Heebo" pitchFamily="34" charset="-120"/>
              </a:rPr>
              <a:t>Ensures accurate and timely recording of student academic performance data.</a:t>
            </a:r>
            <a:endParaRPr lang="en-US" sz="1750" dirty="0"/>
          </a:p>
        </p:txBody>
      </p:sp>
      <p:sp>
        <p:nvSpPr>
          <p:cNvPr id="13" name="Shape 9"/>
          <p:cNvSpPr/>
          <p:nvPr/>
        </p:nvSpPr>
        <p:spPr>
          <a:xfrm>
            <a:off x="9222462" y="3443645"/>
            <a:ext cx="3370064" cy="3064193"/>
          </a:xfrm>
          <a:prstGeom prst="roundRect">
            <a:avLst>
              <a:gd name="adj" fmla="val 3263"/>
            </a:avLst>
          </a:prstGeom>
          <a:solidFill>
            <a:srgbClr val="3C136D"/>
          </a:solidFill>
          <a:ln w="7620">
            <a:solidFill>
              <a:srgbClr val="552C86"/>
            </a:solidFill>
            <a:prstDash val="solid"/>
          </a:ln>
        </p:spPr>
      </p:sp>
      <p:sp>
        <p:nvSpPr>
          <p:cNvPr id="14" name="Text 10"/>
          <p:cNvSpPr/>
          <p:nvPr/>
        </p:nvSpPr>
        <p:spPr>
          <a:xfrm>
            <a:off x="9452253" y="3673435"/>
            <a:ext cx="2910483" cy="694373"/>
          </a:xfrm>
          <a:prstGeom prst="rect">
            <a:avLst/>
          </a:prstGeom>
          <a:noFill/>
          <a:ln/>
        </p:spPr>
        <p:txBody>
          <a:bodyPr wrap="square" rtlCol="0" anchor="t"/>
          <a:lstStyle/>
          <a:p>
            <a:pPr marL="0" indent="0">
              <a:lnSpc>
                <a:spcPts val="2734"/>
              </a:lnSpc>
              <a:buNone/>
            </a:pPr>
            <a:r>
              <a:rPr lang="en-US" sz="2187" dirty="0">
                <a:solidFill>
                  <a:srgbClr val="DCD7E5"/>
                </a:solidFill>
                <a:latin typeface="Montserrat" pitchFamily="34" charset="0"/>
                <a:ea typeface="Montserrat" pitchFamily="34" charset="-122"/>
                <a:cs typeface="Montserrat" pitchFamily="34" charset="-120"/>
              </a:rPr>
              <a:t>Improved Communication</a:t>
            </a:r>
            <a:endParaRPr lang="en-US" sz="2187" dirty="0"/>
          </a:p>
        </p:txBody>
      </p:sp>
      <p:sp>
        <p:nvSpPr>
          <p:cNvPr id="15" name="Text 11"/>
          <p:cNvSpPr/>
          <p:nvPr/>
        </p:nvSpPr>
        <p:spPr>
          <a:xfrm>
            <a:off x="9452253" y="4501039"/>
            <a:ext cx="2910483" cy="1777008"/>
          </a:xfrm>
          <a:prstGeom prst="rect">
            <a:avLst/>
          </a:prstGeom>
          <a:noFill/>
          <a:ln/>
        </p:spPr>
        <p:txBody>
          <a:bodyPr wrap="square" rtlCol="0" anchor="t"/>
          <a:lstStyle/>
          <a:p>
            <a:pPr marL="0" indent="0">
              <a:lnSpc>
                <a:spcPts val="2799"/>
              </a:lnSpc>
              <a:buNone/>
            </a:pPr>
            <a:r>
              <a:rPr lang="en-US" sz="1750" dirty="0">
                <a:solidFill>
                  <a:srgbClr val="DCD7E5"/>
                </a:solidFill>
                <a:latin typeface="Heebo" pitchFamily="34" charset="0"/>
                <a:ea typeface="Heebo" pitchFamily="34" charset="-122"/>
                <a:cs typeface="Heebo" pitchFamily="34" charset="-120"/>
              </a:rPr>
              <a:t>Facilitates better communication between teachers, students, and parents regarding academic progress.</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sp>
      <p:sp>
        <p:nvSpPr>
          <p:cNvPr id="4" name="Text 1"/>
          <p:cNvSpPr/>
          <p:nvPr/>
        </p:nvSpPr>
        <p:spPr>
          <a:xfrm>
            <a:off x="2037993" y="2402681"/>
            <a:ext cx="10554414" cy="1388745"/>
          </a:xfrm>
          <a:prstGeom prst="rect">
            <a:avLst/>
          </a:prstGeom>
          <a:noFill/>
          <a:ln/>
        </p:spPr>
        <p:txBody>
          <a:bodyPr wrap="square" rtlCol="0" anchor="t"/>
          <a:lstStyle/>
          <a:p>
            <a:pPr marL="0" indent="0">
              <a:lnSpc>
                <a:spcPts val="5468"/>
              </a:lnSpc>
              <a:buNone/>
            </a:pPr>
            <a:r>
              <a:rPr lang="en-US" sz="4374" dirty="0">
                <a:solidFill>
                  <a:srgbClr val="F2F0F4"/>
                </a:solidFill>
                <a:latin typeface="Montserrat" pitchFamily="34" charset="0"/>
                <a:ea typeface="Montserrat" pitchFamily="34" charset="-122"/>
                <a:cs typeface="Montserrat" pitchFamily="34" charset="-120"/>
              </a:rPr>
              <a:t>Implementation Challenges and Solutions</a:t>
            </a:r>
            <a:endParaRPr lang="en-US" sz="4374" dirty="0"/>
          </a:p>
        </p:txBody>
      </p:sp>
      <p:sp>
        <p:nvSpPr>
          <p:cNvPr id="5" name="Text 2"/>
          <p:cNvSpPr/>
          <p:nvPr/>
        </p:nvSpPr>
        <p:spPr>
          <a:xfrm>
            <a:off x="2037993" y="4346853"/>
            <a:ext cx="2777490" cy="347186"/>
          </a:xfrm>
          <a:prstGeom prst="rect">
            <a:avLst/>
          </a:prstGeom>
          <a:noFill/>
          <a:ln/>
        </p:spPr>
        <p:txBody>
          <a:bodyPr wrap="none" rtlCol="0" anchor="t"/>
          <a:lstStyle/>
          <a:p>
            <a:pPr marL="0" indent="0">
              <a:lnSpc>
                <a:spcPts val="2734"/>
              </a:lnSpc>
              <a:buNone/>
            </a:pPr>
            <a:r>
              <a:rPr lang="en-US" sz="2187" dirty="0">
                <a:solidFill>
                  <a:srgbClr val="F2F0F4"/>
                </a:solidFill>
                <a:latin typeface="Montserrat" pitchFamily="34" charset="0"/>
                <a:ea typeface="Montserrat" pitchFamily="34" charset="-122"/>
                <a:cs typeface="Montserrat" pitchFamily="34" charset="-120"/>
              </a:rPr>
              <a:t>Challenges</a:t>
            </a:r>
            <a:endParaRPr lang="en-US" sz="2187" dirty="0"/>
          </a:p>
        </p:txBody>
      </p:sp>
      <p:sp>
        <p:nvSpPr>
          <p:cNvPr id="6" name="Text 3"/>
          <p:cNvSpPr/>
          <p:nvPr/>
        </p:nvSpPr>
        <p:spPr>
          <a:xfrm>
            <a:off x="2037993" y="4916210"/>
            <a:ext cx="5006221" cy="710803"/>
          </a:xfrm>
          <a:prstGeom prst="rect">
            <a:avLst/>
          </a:prstGeom>
          <a:noFill/>
          <a:ln/>
        </p:spPr>
        <p:txBody>
          <a:bodyPr wrap="square" rtlCol="0" anchor="t"/>
          <a:lstStyle/>
          <a:p>
            <a:pPr marL="0" indent="0">
              <a:lnSpc>
                <a:spcPts val="2799"/>
              </a:lnSpc>
              <a:buNone/>
            </a:pPr>
            <a:r>
              <a:rPr lang="en-US" sz="1750" dirty="0">
                <a:solidFill>
                  <a:srgbClr val="DCD7E5"/>
                </a:solidFill>
                <a:latin typeface="Heebo" pitchFamily="34" charset="0"/>
                <a:ea typeface="Heebo" pitchFamily="34" charset="-122"/>
                <a:cs typeface="Heebo" pitchFamily="34" charset="-120"/>
              </a:rPr>
              <a:t>Resistance to change, data migration issues, and training requirements.</a:t>
            </a:r>
            <a:endParaRPr lang="en-US" sz="1750" dirty="0"/>
          </a:p>
        </p:txBody>
      </p:sp>
      <p:sp>
        <p:nvSpPr>
          <p:cNvPr id="7" name="Text 4"/>
          <p:cNvSpPr/>
          <p:nvPr/>
        </p:nvSpPr>
        <p:spPr>
          <a:xfrm>
            <a:off x="7593806" y="4346853"/>
            <a:ext cx="2777490" cy="347186"/>
          </a:xfrm>
          <a:prstGeom prst="rect">
            <a:avLst/>
          </a:prstGeom>
          <a:noFill/>
          <a:ln/>
        </p:spPr>
        <p:txBody>
          <a:bodyPr wrap="none" rtlCol="0" anchor="t"/>
          <a:lstStyle/>
          <a:p>
            <a:pPr marL="0" indent="0">
              <a:lnSpc>
                <a:spcPts val="2734"/>
              </a:lnSpc>
              <a:buNone/>
            </a:pPr>
            <a:r>
              <a:rPr lang="en-US" sz="2187" dirty="0">
                <a:solidFill>
                  <a:srgbClr val="F2F0F4"/>
                </a:solidFill>
                <a:latin typeface="Montserrat" pitchFamily="34" charset="0"/>
                <a:ea typeface="Montserrat" pitchFamily="34" charset="-122"/>
                <a:cs typeface="Montserrat" pitchFamily="34" charset="-120"/>
              </a:rPr>
              <a:t>Solutions</a:t>
            </a:r>
            <a:endParaRPr lang="en-US" sz="2187" dirty="0"/>
          </a:p>
        </p:txBody>
      </p:sp>
      <p:sp>
        <p:nvSpPr>
          <p:cNvPr id="8" name="Text 5"/>
          <p:cNvSpPr/>
          <p:nvPr/>
        </p:nvSpPr>
        <p:spPr>
          <a:xfrm>
            <a:off x="7593806" y="4916210"/>
            <a:ext cx="5006221" cy="710803"/>
          </a:xfrm>
          <a:prstGeom prst="rect">
            <a:avLst/>
          </a:prstGeom>
          <a:noFill/>
          <a:ln/>
        </p:spPr>
        <p:txBody>
          <a:bodyPr wrap="square" rtlCol="0" anchor="t"/>
          <a:lstStyle/>
          <a:p>
            <a:pPr marL="0" indent="0">
              <a:lnSpc>
                <a:spcPts val="2799"/>
              </a:lnSpc>
              <a:buNone/>
            </a:pPr>
            <a:r>
              <a:rPr lang="en-US" sz="1750" dirty="0">
                <a:solidFill>
                  <a:srgbClr val="DCD7E5"/>
                </a:solidFill>
                <a:latin typeface="Heebo" pitchFamily="34" charset="0"/>
                <a:ea typeface="Heebo" pitchFamily="34" charset="-122"/>
                <a:cs typeface="Heebo" pitchFamily="34" charset="-120"/>
              </a:rPr>
              <a:t>Comprehensive change management, data migration strategies, and training programs.</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sp>
      <p:sp>
        <p:nvSpPr>
          <p:cNvPr id="4" name="Text 1"/>
          <p:cNvSpPr/>
          <p:nvPr/>
        </p:nvSpPr>
        <p:spPr>
          <a:xfrm>
            <a:off x="2037993" y="2422208"/>
            <a:ext cx="8586430" cy="694373"/>
          </a:xfrm>
          <a:prstGeom prst="rect">
            <a:avLst/>
          </a:prstGeom>
          <a:noFill/>
          <a:ln/>
        </p:spPr>
        <p:txBody>
          <a:bodyPr wrap="none" rtlCol="0" anchor="t"/>
          <a:lstStyle/>
          <a:p>
            <a:pPr marL="0" indent="0">
              <a:lnSpc>
                <a:spcPts val="5468"/>
              </a:lnSpc>
              <a:buNone/>
            </a:pPr>
            <a:r>
              <a:rPr lang="en-US" sz="4374" dirty="0">
                <a:solidFill>
                  <a:srgbClr val="F2F0F4"/>
                </a:solidFill>
                <a:latin typeface="Montserrat" pitchFamily="34" charset="0"/>
                <a:ea typeface="Montserrat" pitchFamily="34" charset="-122"/>
                <a:cs typeface="Montserrat" pitchFamily="34" charset="-120"/>
              </a:rPr>
              <a:t>Conclusion and Key Takeaways</a:t>
            </a:r>
            <a:endParaRPr lang="en-US" sz="4374" dirty="0"/>
          </a:p>
        </p:txBody>
      </p:sp>
      <p:sp>
        <p:nvSpPr>
          <p:cNvPr id="5" name="Text 2"/>
          <p:cNvSpPr/>
          <p:nvPr/>
        </p:nvSpPr>
        <p:spPr>
          <a:xfrm>
            <a:off x="2037993" y="3672007"/>
            <a:ext cx="5110520" cy="666512"/>
          </a:xfrm>
          <a:prstGeom prst="rect">
            <a:avLst/>
          </a:prstGeom>
          <a:noFill/>
          <a:ln/>
        </p:spPr>
        <p:txBody>
          <a:bodyPr wrap="none" rtlCol="0" anchor="t"/>
          <a:lstStyle/>
          <a:p>
            <a:pPr marL="0" indent="0" algn="ctr">
              <a:lnSpc>
                <a:spcPts val="5249"/>
              </a:lnSpc>
              <a:buNone/>
            </a:pPr>
            <a:r>
              <a:rPr lang="en-US" sz="5249" dirty="0">
                <a:solidFill>
                  <a:srgbClr val="DCD7E5"/>
                </a:solidFill>
                <a:latin typeface="Montserrat" pitchFamily="34" charset="0"/>
                <a:ea typeface="Montserrat" pitchFamily="34" charset="-122"/>
                <a:cs typeface="Montserrat" pitchFamily="34" charset="-120"/>
              </a:rPr>
              <a:t>3</a:t>
            </a:r>
            <a:endParaRPr lang="en-US" sz="5249" dirty="0"/>
          </a:p>
        </p:txBody>
      </p:sp>
      <p:sp>
        <p:nvSpPr>
          <p:cNvPr id="6" name="Text 3"/>
          <p:cNvSpPr/>
          <p:nvPr/>
        </p:nvSpPr>
        <p:spPr>
          <a:xfrm>
            <a:off x="3204448" y="4616172"/>
            <a:ext cx="2777490" cy="347186"/>
          </a:xfrm>
          <a:prstGeom prst="rect">
            <a:avLst/>
          </a:prstGeom>
          <a:noFill/>
          <a:ln/>
        </p:spPr>
        <p:txBody>
          <a:bodyPr wrap="none" rtlCol="0" anchor="t"/>
          <a:lstStyle/>
          <a:p>
            <a:pPr marL="0" indent="0" algn="ctr">
              <a:lnSpc>
                <a:spcPts val="2734"/>
              </a:lnSpc>
              <a:buNone/>
            </a:pPr>
            <a:r>
              <a:rPr lang="en-US" sz="2187" dirty="0">
                <a:solidFill>
                  <a:srgbClr val="DCD7E5"/>
                </a:solidFill>
                <a:latin typeface="Montserrat" pitchFamily="34" charset="0"/>
                <a:ea typeface="Montserrat" pitchFamily="34" charset="-122"/>
                <a:cs typeface="Montserrat" pitchFamily="34" charset="-120"/>
              </a:rPr>
              <a:t>Data Management</a:t>
            </a:r>
            <a:endParaRPr lang="en-US" sz="2187" dirty="0"/>
          </a:p>
        </p:txBody>
      </p:sp>
      <p:sp>
        <p:nvSpPr>
          <p:cNvPr id="7" name="Text 4"/>
          <p:cNvSpPr/>
          <p:nvPr/>
        </p:nvSpPr>
        <p:spPr>
          <a:xfrm>
            <a:off x="2037993" y="5096589"/>
            <a:ext cx="5110520" cy="710803"/>
          </a:xfrm>
          <a:prstGeom prst="rect">
            <a:avLst/>
          </a:prstGeom>
          <a:noFill/>
          <a:ln/>
        </p:spPr>
        <p:txBody>
          <a:bodyPr wrap="square" rtlCol="0" anchor="t"/>
          <a:lstStyle/>
          <a:p>
            <a:pPr marL="0" indent="0" algn="ctr">
              <a:lnSpc>
                <a:spcPts val="2799"/>
              </a:lnSpc>
              <a:buNone/>
            </a:pPr>
            <a:r>
              <a:rPr lang="en-US" sz="1750" dirty="0">
                <a:solidFill>
                  <a:srgbClr val="DCD7E5"/>
                </a:solidFill>
                <a:latin typeface="Heebo" pitchFamily="34" charset="0"/>
                <a:ea typeface="Heebo" pitchFamily="34" charset="-122"/>
                <a:cs typeface="Heebo" pitchFamily="34" charset="-120"/>
              </a:rPr>
              <a:t>Improved data management leads to better decision-making.</a:t>
            </a:r>
            <a:endParaRPr lang="en-US" sz="1750" dirty="0"/>
          </a:p>
        </p:txBody>
      </p:sp>
      <p:sp>
        <p:nvSpPr>
          <p:cNvPr id="8" name="Text 5"/>
          <p:cNvSpPr/>
          <p:nvPr/>
        </p:nvSpPr>
        <p:spPr>
          <a:xfrm>
            <a:off x="7481768" y="3672007"/>
            <a:ext cx="5110639" cy="666512"/>
          </a:xfrm>
          <a:prstGeom prst="rect">
            <a:avLst/>
          </a:prstGeom>
          <a:noFill/>
          <a:ln/>
        </p:spPr>
        <p:txBody>
          <a:bodyPr wrap="none" rtlCol="0" anchor="t"/>
          <a:lstStyle/>
          <a:p>
            <a:pPr marL="0" indent="0" algn="ctr">
              <a:lnSpc>
                <a:spcPts val="5249"/>
              </a:lnSpc>
              <a:buNone/>
            </a:pPr>
            <a:r>
              <a:rPr lang="en-US" sz="5249" dirty="0">
                <a:solidFill>
                  <a:srgbClr val="DCD7E5"/>
                </a:solidFill>
                <a:latin typeface="Montserrat" pitchFamily="34" charset="0"/>
                <a:ea typeface="Montserrat" pitchFamily="34" charset="-122"/>
                <a:cs typeface="Montserrat" pitchFamily="34" charset="-120"/>
              </a:rPr>
              <a:t>95%</a:t>
            </a:r>
            <a:endParaRPr lang="en-US" sz="5249" dirty="0"/>
          </a:p>
        </p:txBody>
      </p:sp>
      <p:sp>
        <p:nvSpPr>
          <p:cNvPr id="9" name="Text 6"/>
          <p:cNvSpPr/>
          <p:nvPr/>
        </p:nvSpPr>
        <p:spPr>
          <a:xfrm>
            <a:off x="8648343" y="4616172"/>
            <a:ext cx="2777490" cy="347186"/>
          </a:xfrm>
          <a:prstGeom prst="rect">
            <a:avLst/>
          </a:prstGeom>
          <a:noFill/>
          <a:ln/>
        </p:spPr>
        <p:txBody>
          <a:bodyPr wrap="none" rtlCol="0" anchor="t"/>
          <a:lstStyle/>
          <a:p>
            <a:pPr marL="0" indent="0" algn="ctr">
              <a:lnSpc>
                <a:spcPts val="2734"/>
              </a:lnSpc>
              <a:buNone/>
            </a:pPr>
            <a:r>
              <a:rPr lang="en-US" sz="2187" dirty="0">
                <a:solidFill>
                  <a:srgbClr val="DCD7E5"/>
                </a:solidFill>
                <a:latin typeface="Montserrat" pitchFamily="34" charset="0"/>
                <a:ea typeface="Montserrat" pitchFamily="34" charset="-122"/>
                <a:cs typeface="Montserrat" pitchFamily="34" charset="-120"/>
              </a:rPr>
              <a:t>Time Savings</a:t>
            </a:r>
            <a:endParaRPr lang="en-US" sz="2187" dirty="0"/>
          </a:p>
        </p:txBody>
      </p:sp>
      <p:sp>
        <p:nvSpPr>
          <p:cNvPr id="10" name="Text 7"/>
          <p:cNvSpPr/>
          <p:nvPr/>
        </p:nvSpPr>
        <p:spPr>
          <a:xfrm>
            <a:off x="7481768" y="5096589"/>
            <a:ext cx="5110639" cy="710803"/>
          </a:xfrm>
          <a:prstGeom prst="rect">
            <a:avLst/>
          </a:prstGeom>
          <a:noFill/>
          <a:ln/>
        </p:spPr>
        <p:txBody>
          <a:bodyPr wrap="square" rtlCol="0" anchor="t"/>
          <a:lstStyle/>
          <a:p>
            <a:pPr marL="0" indent="0" algn="ctr">
              <a:lnSpc>
                <a:spcPts val="2799"/>
              </a:lnSpc>
              <a:buNone/>
            </a:pPr>
            <a:r>
              <a:rPr lang="en-US" sz="1750" dirty="0">
                <a:solidFill>
                  <a:srgbClr val="DCD7E5"/>
                </a:solidFill>
                <a:latin typeface="Heebo" pitchFamily="34" charset="0"/>
                <a:ea typeface="Heebo" pitchFamily="34" charset="-122"/>
                <a:cs typeface="Heebo" pitchFamily="34" charset="-120"/>
              </a:rPr>
              <a:t>Significant time savings in result generation and analysis.</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sp>
      <p:sp>
        <p:nvSpPr>
          <p:cNvPr id="4" name="Text 1"/>
          <p:cNvSpPr/>
          <p:nvPr/>
        </p:nvSpPr>
        <p:spPr>
          <a:xfrm>
            <a:off x="4537710" y="2157055"/>
            <a:ext cx="5554980" cy="694373"/>
          </a:xfrm>
          <a:prstGeom prst="rect">
            <a:avLst/>
          </a:prstGeom>
          <a:noFill/>
          <a:ln/>
        </p:spPr>
        <p:txBody>
          <a:bodyPr wrap="none" rtlCol="0" anchor="t"/>
          <a:lstStyle/>
          <a:p>
            <a:pPr marL="0" indent="0" algn="ctr">
              <a:lnSpc>
                <a:spcPts val="5468"/>
              </a:lnSpc>
              <a:buNone/>
            </a:pPr>
            <a:r>
              <a:rPr lang="en-US" sz="4374" dirty="0">
                <a:solidFill>
                  <a:srgbClr val="F2F0F4"/>
                </a:solidFill>
                <a:latin typeface="Montserrat" pitchFamily="34" charset="0"/>
                <a:ea typeface="Montserrat" pitchFamily="34" charset="-122"/>
                <a:cs typeface="Montserrat" pitchFamily="34" charset="-120"/>
              </a:rPr>
              <a:t>Thank You</a:t>
            </a:r>
            <a:endParaRPr lang="en-US" sz="4374" dirty="0"/>
          </a:p>
        </p:txBody>
      </p:sp>
      <p:sp>
        <p:nvSpPr>
          <p:cNvPr id="5" name="Text 2"/>
          <p:cNvSpPr/>
          <p:nvPr/>
        </p:nvSpPr>
        <p:spPr>
          <a:xfrm>
            <a:off x="2037993" y="3295769"/>
            <a:ext cx="10554414" cy="355402"/>
          </a:xfrm>
          <a:prstGeom prst="rect">
            <a:avLst/>
          </a:prstGeom>
          <a:noFill/>
          <a:ln/>
        </p:spPr>
        <p:txBody>
          <a:bodyPr wrap="none" rtlCol="0" anchor="t"/>
          <a:lstStyle/>
          <a:p>
            <a:pPr marL="0" indent="0">
              <a:lnSpc>
                <a:spcPts val="2799"/>
              </a:lnSpc>
              <a:buNone/>
            </a:pPr>
            <a:endParaRPr lang="en-US" sz="1750" dirty="0"/>
          </a:p>
        </p:txBody>
      </p:sp>
      <p:sp>
        <p:nvSpPr>
          <p:cNvPr id="6" name="Text 3"/>
          <p:cNvSpPr/>
          <p:nvPr/>
        </p:nvSpPr>
        <p:spPr>
          <a:xfrm>
            <a:off x="2037993" y="3901083"/>
            <a:ext cx="10554414" cy="355402"/>
          </a:xfrm>
          <a:prstGeom prst="rect">
            <a:avLst/>
          </a:prstGeom>
          <a:noFill/>
          <a:ln/>
        </p:spPr>
        <p:txBody>
          <a:bodyPr wrap="none" rtlCol="0" anchor="t"/>
          <a:lstStyle/>
          <a:p>
            <a:pPr marL="0" indent="0">
              <a:lnSpc>
                <a:spcPts val="2799"/>
              </a:lnSpc>
              <a:buNone/>
            </a:pPr>
            <a:endParaRPr lang="en-US" sz="1750" dirty="0"/>
          </a:p>
        </p:txBody>
      </p:sp>
      <p:sp>
        <p:nvSpPr>
          <p:cNvPr id="7" name="Text 4"/>
          <p:cNvSpPr/>
          <p:nvPr/>
        </p:nvSpPr>
        <p:spPr>
          <a:xfrm>
            <a:off x="2037993" y="4506397"/>
            <a:ext cx="10554414" cy="355402"/>
          </a:xfrm>
          <a:prstGeom prst="rect">
            <a:avLst/>
          </a:prstGeom>
          <a:noFill/>
          <a:ln/>
        </p:spPr>
        <p:txBody>
          <a:bodyPr wrap="none" rtlCol="0" anchor="t"/>
          <a:lstStyle/>
          <a:p>
            <a:pPr marL="0" indent="0">
              <a:lnSpc>
                <a:spcPts val="2799"/>
              </a:lnSpc>
              <a:buNone/>
            </a:pPr>
            <a:endParaRPr lang="en-US" sz="1750" dirty="0"/>
          </a:p>
        </p:txBody>
      </p:sp>
      <p:sp>
        <p:nvSpPr>
          <p:cNvPr id="8" name="Text 5"/>
          <p:cNvSpPr/>
          <p:nvPr/>
        </p:nvSpPr>
        <p:spPr>
          <a:xfrm>
            <a:off x="2037993" y="5111710"/>
            <a:ext cx="10554414" cy="355402"/>
          </a:xfrm>
          <a:prstGeom prst="rect">
            <a:avLst/>
          </a:prstGeom>
          <a:noFill/>
          <a:ln/>
        </p:spPr>
        <p:txBody>
          <a:bodyPr wrap="none" rtlCol="0" anchor="t"/>
          <a:lstStyle/>
          <a:p>
            <a:pPr marL="0" indent="0">
              <a:lnSpc>
                <a:spcPts val="2799"/>
              </a:lnSpc>
              <a:buNone/>
            </a:pPr>
            <a:endParaRPr lang="en-US" sz="1750" dirty="0"/>
          </a:p>
        </p:txBody>
      </p:sp>
      <p:sp>
        <p:nvSpPr>
          <p:cNvPr id="9" name="Text 6"/>
          <p:cNvSpPr/>
          <p:nvPr/>
        </p:nvSpPr>
        <p:spPr>
          <a:xfrm>
            <a:off x="2037993" y="5717024"/>
            <a:ext cx="10554414" cy="355402"/>
          </a:xfrm>
          <a:prstGeom prst="rect">
            <a:avLst/>
          </a:prstGeom>
          <a:noFill/>
          <a:ln/>
        </p:spPr>
        <p:txBody>
          <a:bodyPr wrap="none" rtlCol="0" anchor="t"/>
          <a:lstStyle/>
          <a:p>
            <a:pPr marL="0" indent="0">
              <a:lnSpc>
                <a:spcPts val="2799"/>
              </a:lnSpc>
              <a:buNone/>
            </a:pP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974</Words>
  <Application>Microsoft Office PowerPoint</Application>
  <PresentationFormat>Custom</PresentationFormat>
  <Paragraphs>94</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Consolas</vt:lpstr>
      <vt:lpstr>Heebo</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ABHISHEK POONIA</cp:lastModifiedBy>
  <cp:revision>2</cp:revision>
  <dcterms:created xsi:type="dcterms:W3CDTF">2024-02-28T01:37:29Z</dcterms:created>
  <dcterms:modified xsi:type="dcterms:W3CDTF">2025-01-21T09:22:46Z</dcterms:modified>
</cp:coreProperties>
</file>